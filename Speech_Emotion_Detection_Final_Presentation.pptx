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external examiners and faculty members. Welcome to the final defense of our B.E. project, EmoSense. Our system bridges the gap in AI by enabling machines to understand not just what humans say, but how they say it—their emotional state.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Over 70% of spoken emotional nuances are conveyed through acoustic characteristics like pitch, cadence, and harmonics. Current systems ignore this. EmoSense solves this in real time directly from standard consumer microphones.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Previous works either used shallow ML models with low accuracy, or massive 2D-CNNs requiring expensive GPUs. Our 1D-CNN delivers the sweet spot: high accuracy with ultra-low latency on standard CPU cloud servers.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complete architectural flow. Notice our decoupled cloud approach: static frontend is delivered instantly via Netlify CDN, while the compute-heavy inference engine runs as a daemonized background service on AWS EC2.</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180 features? Because pitch alone cannot distinguish anger from fear, and volume alone cannot distinguish calm from sadness. Fusing MFCC, Chroma, and Mel spectrogram gives our model both timbre, harmonic pitch, and energy distribution.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1D-CNN uses 4 convolutional stages with aggressive L1/L2 weight penalties and dual dropout layers (10% and 50%). This prevents the model from memorizing specific speaker identities and forces it to learn genuine emotional acoustic patterns.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RAVDESS is the gold standard because both text and actor gender are perfectly balanced. By injecting white noise and pitch shifts, we expanded the dataset to 7,356 samples, significantly improving real-world robustness.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three engineering solutions were crucial. Without in-browser transcoding, browser recording crashes. Without removing peak normalization, soft emotions are misclassified as loud ones. These fixes took our system from a lab demo to a production-ready application.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model achieves 82.4% accuracy on completely held-out test data. Notice the class performance: high-arousal emotions like Happy, Surprised, and Sad exceed 99%, while Calm and Fearful achieve over 91%.</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designed the UI to be clean, distraction-free, and accessible on both mobile and desktop. The dual-card design immediately presents the dominant emotion while providing a full 8-class confidence breakdown below.</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deployment architecture follows modern DevOps best practices: automated continuous deployment via Netlify and Git, coupled with a robust Nginx and Gunicorn backend running as a daemonized Linux service on AWS.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During the live demo, we will demonstrate both live recording and file upload. Notice how the in-browser transcoding immediately prepares the WAV file and the AWS backend returns predictions in under 400 milliseconds.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Looking forward, the logical next step is multimodal fusion—combining voice and facial video. Furthermore, implementing real-time WebSocket streaming will enable continuous emotion monitoring during live phone or video calls.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EmoSense successfully demonstrates that deep learning can accurately recognize human emotions from speech in real time on lightweight, free cloud infrastructure. Thank you for your time. We are now open for questions.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four questions examiners ask most frequently. Memorize these key points: parameter efficiency of 1D-CNN, complementary nature of the 180 features, and the novel in-browser transcoding solution.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7160"/>
          </a:xfrm>
          <a:prstGeom prst="rect">
            <a:avLst/>
          </a:prstGeom>
          <a:solidFill>
            <a:srgbClr val="4F46E5"/>
          </a:solidFill>
          <a:ln>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5486400" cy="365760"/>
          </a:xfrm>
          <a:prstGeom prst="rect">
            <a:avLst/>
          </a:prstGeom>
          <a:noFill/>
        </p:spPr>
        <p:txBody>
          <a:bodyPr wrap="square">
            <a:spAutoFit/>
          </a:bodyPr>
          <a:lstStyle/>
          <a:p>
            <a:pPr>
              <a:defRPr sz="1000" b="1">
                <a:solidFill>
                  <a:srgbClr val="4F46E5"/>
                </a:solidFill>
              </a:defRPr>
            </a:pPr>
            <a:r>
              <a:t>SLIDE 01 | PROJECT TITLE &amp; OVERVIEW</a:t>
            </a:r>
          </a:p>
        </p:txBody>
      </p:sp>
      <p:sp>
        <p:nvSpPr>
          <p:cNvPr id="5" name="TextBox 4"/>
          <p:cNvSpPr txBox="1"/>
          <p:nvPr/>
        </p:nvSpPr>
        <p:spPr>
          <a:xfrm>
            <a:off x="731520" y="640080"/>
            <a:ext cx="10698480" cy="731520"/>
          </a:xfrm>
          <a:prstGeom prst="rect">
            <a:avLst/>
          </a:prstGeom>
          <a:noFill/>
        </p:spPr>
        <p:txBody>
          <a:bodyPr wrap="square">
            <a:spAutoFit/>
          </a:bodyPr>
          <a:lstStyle/>
          <a:p>
            <a:pPr>
              <a:defRPr sz="2200" b="1">
                <a:solidFill>
                  <a:srgbClr val="1E293B"/>
                </a:solidFill>
              </a:defRPr>
            </a:pPr>
            <a:r>
              <a:t>EMOSENSE: REAL-TIME SPEECH EMOTION DETECTION</a:t>
            </a:r>
          </a:p>
        </p:txBody>
      </p:sp>
      <p:sp>
        <p:nvSpPr>
          <p:cNvPr id="6" name="TextBox 5"/>
          <p:cNvSpPr txBox="1"/>
          <p:nvPr/>
        </p:nvSpPr>
        <p:spPr>
          <a:xfrm>
            <a:off x="731520" y="1280160"/>
            <a:ext cx="10698480" cy="365760"/>
          </a:xfrm>
          <a:prstGeom prst="rect">
            <a:avLst/>
          </a:prstGeom>
          <a:noFill/>
        </p:spPr>
        <p:txBody>
          <a:bodyPr wrap="square">
            <a:spAutoFit/>
          </a:bodyPr>
          <a:lstStyle/>
          <a:p>
            <a:pPr>
              <a:defRPr sz="1200" i="1">
                <a:solidFill>
                  <a:srgbClr val="64748B"/>
                </a:solidFill>
              </a:defRPr>
            </a:pPr>
            <a:r>
              <a:t>Major Project Final Defense | Bachelor of Engineering (B.E.) in Computer Engineering</a:t>
            </a:r>
          </a:p>
        </p:txBody>
      </p:sp>
      <p:sp>
        <p:nvSpPr>
          <p:cNvPr id="7" name="Rounded Rectangle 6"/>
          <p:cNvSpPr/>
          <p:nvPr/>
        </p:nvSpPr>
        <p:spPr>
          <a:xfrm>
            <a:off x="731520" y="1737360"/>
            <a:ext cx="10698480"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20240"/>
            <a:ext cx="10149840" cy="4206240"/>
          </a:xfrm>
          <a:prstGeom prst="rect">
            <a:avLst/>
          </a:prstGeom>
          <a:noFill/>
        </p:spPr>
        <p:txBody>
          <a:bodyPr wrap="square">
            <a:spAutoFit/>
          </a:bodyPr>
          <a:lstStyle/>
          <a:p>
            <a:pPr>
              <a:spcAft>
                <a:spcPts val="800"/>
              </a:spcAft>
              <a:defRPr sz="1300" b="0">
                <a:solidFill>
                  <a:srgbClr val="0F172A"/>
                </a:solidFill>
              </a:defRPr>
            </a:pPr>
            <a:r>
              <a:t>Domain: Affective Computing, Deep Learning, Digital Signal Processing (DSP)</a:t>
            </a:r>
          </a:p>
          <a:p>
            <a:pPr>
              <a:spcAft>
                <a:spcPts val="800"/>
              </a:spcAft>
              <a:defRPr sz="1300" b="0">
                <a:solidFill>
                  <a:srgbClr val="0F172A"/>
                </a:solidFill>
              </a:defRPr>
            </a:pPr>
            <a:r>
              <a:t>Objective: Real-time detection of 8 human emotions directly from spoken voice audio</a:t>
            </a:r>
          </a:p>
          <a:p>
            <a:pPr>
              <a:spcAft>
                <a:spcPts val="800"/>
              </a:spcAft>
              <a:defRPr sz="1300" b="0">
                <a:solidFill>
                  <a:srgbClr val="0F172A"/>
                </a:solidFill>
              </a:defRPr>
            </a:pPr>
            <a:r>
              <a:t>Deep Learning Core: 1D Convolutional Neural Network (1D-CNN) trained on the RAVDESS dataset</a:t>
            </a:r>
          </a:p>
          <a:p>
            <a:pPr>
              <a:spcAft>
                <a:spcPts val="800"/>
              </a:spcAft>
              <a:defRPr sz="1300" b="0">
                <a:solidFill>
                  <a:srgbClr val="0F172A"/>
                </a:solidFill>
              </a:defRPr>
            </a:pPr>
            <a:r>
              <a:t>Acoustic Feature Fusion: 180-dimensional feature tensor (MFCC + Chroma + Mel Spectrogram)</a:t>
            </a:r>
          </a:p>
          <a:p>
            <a:pPr>
              <a:spcAft>
                <a:spcPts val="800"/>
              </a:spcAft>
              <a:defRPr sz="1300" b="0">
                <a:solidFill>
                  <a:srgbClr val="0F172A"/>
                </a:solidFill>
              </a:defRPr>
            </a:pPr>
            <a:r>
              <a:t>Full-Stack Cloud Architecture: Netlify Edge CDN (React 18 UI) + AWS EC2 (Python Flask + Nginx)</a:t>
            </a:r>
          </a:p>
          <a:p>
            <a:pPr>
              <a:spcAft>
                <a:spcPts val="800"/>
              </a:spcAft>
              <a:defRPr sz="1300" b="0">
                <a:solidFill>
                  <a:srgbClr val="0F172A"/>
                </a:solidFill>
              </a:defRPr>
            </a:pPr>
            <a:r>
              <a:t>Live Deployments: Accessible globally on custom Netlify domain and AWS EC2 Public Cloud</a:t>
            </a:r>
          </a:p>
        </p:txBody>
      </p:sp>
      <p:sp>
        <p:nvSpPr>
          <p:cNvPr id="9" name="TextBox 8"/>
          <p:cNvSpPr txBox="1"/>
          <p:nvPr/>
        </p:nvSpPr>
        <p:spPr>
          <a:xfrm>
            <a:off x="731520" y="6446520"/>
            <a:ext cx="10698480" cy="320040"/>
          </a:xfrm>
          <a:prstGeom prst="rect">
            <a:avLst/>
          </a:prstGeom>
          <a:noFill/>
        </p:spPr>
        <p:txBody>
          <a:bodyPr wrap="none">
            <a:spAutoFit/>
          </a:bodyPr>
          <a:lstStyle/>
          <a:p>
            <a:pPr>
              <a:defRPr sz="900">
                <a:solidFill>
                  <a:srgbClr val="64748B"/>
                </a:solidFill>
              </a:defRPr>
            </a:pPr>
            <a:r>
              <a:t>EmoSense: Speech Emotion Detection System | B.E. Final Year Major Project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7160"/>
          </a:xfrm>
          <a:prstGeom prst="rect">
            <a:avLst/>
          </a:prstGeom>
          <a:solidFill>
            <a:srgbClr val="4F46E5"/>
          </a:solidFill>
          <a:ln>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5486400" cy="365760"/>
          </a:xfrm>
          <a:prstGeom prst="rect">
            <a:avLst/>
          </a:prstGeom>
          <a:noFill/>
        </p:spPr>
        <p:txBody>
          <a:bodyPr wrap="square">
            <a:spAutoFit/>
          </a:bodyPr>
          <a:lstStyle/>
          <a:p>
            <a:pPr>
              <a:defRPr sz="1000" b="1">
                <a:solidFill>
                  <a:srgbClr val="4F46E5"/>
                </a:solidFill>
              </a:defRPr>
            </a:pPr>
            <a:r>
              <a:t>SLIDE 02 | PROBLEM FORMULATION</a:t>
            </a:r>
          </a:p>
        </p:txBody>
      </p:sp>
      <p:sp>
        <p:nvSpPr>
          <p:cNvPr id="5" name="TextBox 4"/>
          <p:cNvSpPr txBox="1"/>
          <p:nvPr/>
        </p:nvSpPr>
        <p:spPr>
          <a:xfrm>
            <a:off x="731520" y="640080"/>
            <a:ext cx="10698480" cy="731520"/>
          </a:xfrm>
          <a:prstGeom prst="rect">
            <a:avLst/>
          </a:prstGeom>
          <a:noFill/>
        </p:spPr>
        <p:txBody>
          <a:bodyPr wrap="square">
            <a:spAutoFit/>
          </a:bodyPr>
          <a:lstStyle/>
          <a:p>
            <a:pPr>
              <a:defRPr sz="2200" b="1">
                <a:solidFill>
                  <a:srgbClr val="1E293B"/>
                </a:solidFill>
              </a:defRPr>
            </a:pPr>
            <a:r>
              <a:t>PROBLEM STATEMENT &amp; MOTIVATION</a:t>
            </a:r>
          </a:p>
        </p:txBody>
      </p:sp>
      <p:sp>
        <p:nvSpPr>
          <p:cNvPr id="6" name="TextBox 5"/>
          <p:cNvSpPr txBox="1"/>
          <p:nvPr/>
        </p:nvSpPr>
        <p:spPr>
          <a:xfrm>
            <a:off x="731520" y="1280160"/>
            <a:ext cx="10698480" cy="365760"/>
          </a:xfrm>
          <a:prstGeom prst="rect">
            <a:avLst/>
          </a:prstGeom>
          <a:noFill/>
        </p:spPr>
        <p:txBody>
          <a:bodyPr wrap="square">
            <a:spAutoFit/>
          </a:bodyPr>
          <a:lstStyle/>
          <a:p>
            <a:pPr>
              <a:defRPr sz="1200" i="1">
                <a:solidFill>
                  <a:srgbClr val="64748B"/>
                </a:solidFill>
              </a:defRPr>
            </a:pPr>
            <a:r>
              <a:t>Why Speech Emotion Recognition (SER) is a Critical AI Frontier</a:t>
            </a:r>
          </a:p>
        </p:txBody>
      </p:sp>
      <p:sp>
        <p:nvSpPr>
          <p:cNvPr id="7" name="Rounded Rectangle 6"/>
          <p:cNvSpPr/>
          <p:nvPr/>
        </p:nvSpPr>
        <p:spPr>
          <a:xfrm>
            <a:off x="731520" y="1737360"/>
            <a:ext cx="10698480"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20240"/>
            <a:ext cx="10149840" cy="4206240"/>
          </a:xfrm>
          <a:prstGeom prst="rect">
            <a:avLst/>
          </a:prstGeom>
          <a:noFill/>
        </p:spPr>
        <p:txBody>
          <a:bodyPr wrap="square">
            <a:spAutoFit/>
          </a:bodyPr>
          <a:lstStyle/>
          <a:p>
            <a:pPr>
              <a:spcAft>
                <a:spcPts val="800"/>
              </a:spcAft>
              <a:defRPr sz="1300" b="0">
                <a:solidFill>
                  <a:srgbClr val="0F172A"/>
                </a:solidFill>
              </a:defRPr>
            </a:pPr>
            <a:r>
              <a:t>The Linguistic Gap: Conventional ASR transcribes semantic text but is blind to paralinguistic cues.</a:t>
            </a:r>
          </a:p>
          <a:p>
            <a:pPr>
              <a:spcAft>
                <a:spcPts val="800"/>
              </a:spcAft>
              <a:defRPr sz="1300" b="0">
                <a:solidFill>
                  <a:srgbClr val="0F172A"/>
                </a:solidFill>
              </a:defRPr>
            </a:pPr>
            <a:r>
              <a:t>Non-Stationary Signals: Voice signals vary widely across accents, pitch ranges, and recording environments.</a:t>
            </a:r>
          </a:p>
          <a:p>
            <a:pPr>
              <a:spcAft>
                <a:spcPts val="800"/>
              </a:spcAft>
              <a:defRPr sz="1300" b="0">
                <a:solidFill>
                  <a:srgbClr val="0F172A"/>
                </a:solidFill>
              </a:defRPr>
            </a:pPr>
            <a:r>
              <a:t>Browser Codec Incompatibilities: Browsers stream WebM/Opus audio, which crashes traditional ML libraries expecting linear PCM WAV.</a:t>
            </a:r>
          </a:p>
          <a:p>
            <a:pPr>
              <a:spcAft>
                <a:spcPts val="800"/>
              </a:spcAft>
              <a:defRPr sz="1300" b="0">
                <a:solidFill>
                  <a:srgbClr val="0F172A"/>
                </a:solidFill>
              </a:defRPr>
            </a:pPr>
            <a:r>
              <a:t>Real-World Impact &amp; Applications:</a:t>
            </a:r>
          </a:p>
          <a:p>
            <a:pPr>
              <a:spcAft>
                <a:spcPts val="800"/>
              </a:spcAft>
              <a:defRPr sz="1200">
                <a:solidFill>
                  <a:srgbClr val="64748B"/>
                </a:solidFill>
              </a:defRPr>
            </a:pPr>
            <a:r>
              <a:t>  • Customer Contact Centers: Real-time detection of customer frustration to escalate urgent calls.</a:t>
            </a:r>
          </a:p>
          <a:p>
            <a:pPr>
              <a:spcAft>
                <a:spcPts val="800"/>
              </a:spcAft>
              <a:defRPr sz="1200">
                <a:solidFill>
                  <a:srgbClr val="64748B"/>
                </a:solidFill>
              </a:defRPr>
            </a:pPr>
            <a:r>
              <a:t>  • Telehealth &amp; Mental Health: Acoustic biomarkers for monitoring clinical depression, PTSD, and anxiety.</a:t>
            </a:r>
          </a:p>
          <a:p>
            <a:pPr>
              <a:spcAft>
                <a:spcPts val="800"/>
              </a:spcAft>
              <a:defRPr sz="1200">
                <a:solidFill>
                  <a:srgbClr val="64748B"/>
                </a:solidFill>
              </a:defRPr>
            </a:pPr>
            <a:r>
              <a:t>  • Automotive Safety: Driver stress and road rage monitoring to prevent vehicular accidents.</a:t>
            </a:r>
          </a:p>
          <a:p>
            <a:pPr>
              <a:spcAft>
                <a:spcPts val="800"/>
              </a:spcAft>
              <a:defRPr sz="1200">
                <a:solidFill>
                  <a:srgbClr val="64748B"/>
                </a:solidFill>
              </a:defRPr>
            </a:pPr>
            <a:r>
              <a:t>  • Smart Assistants: Empathetic AI voice assistants that adapt tone to user mood.</a:t>
            </a:r>
          </a:p>
        </p:txBody>
      </p:sp>
      <p:sp>
        <p:nvSpPr>
          <p:cNvPr id="9" name="TextBox 8"/>
          <p:cNvSpPr txBox="1"/>
          <p:nvPr/>
        </p:nvSpPr>
        <p:spPr>
          <a:xfrm>
            <a:off x="731520" y="6446520"/>
            <a:ext cx="10698480" cy="320040"/>
          </a:xfrm>
          <a:prstGeom prst="rect">
            <a:avLst/>
          </a:prstGeom>
          <a:noFill/>
        </p:spPr>
        <p:txBody>
          <a:bodyPr wrap="none">
            <a:spAutoFit/>
          </a:bodyPr>
          <a:lstStyle/>
          <a:p>
            <a:pPr>
              <a:defRPr sz="900">
                <a:solidFill>
                  <a:srgbClr val="64748B"/>
                </a:solidFill>
              </a:defRPr>
            </a:pPr>
            <a:r>
              <a:t>EmoSense: Speech Emotion Detection System | B.E. Final Year Major Project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7160"/>
          </a:xfrm>
          <a:prstGeom prst="rect">
            <a:avLst/>
          </a:prstGeom>
          <a:solidFill>
            <a:srgbClr val="4F46E5"/>
          </a:solidFill>
          <a:ln>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5486400" cy="365760"/>
          </a:xfrm>
          <a:prstGeom prst="rect">
            <a:avLst/>
          </a:prstGeom>
          <a:noFill/>
        </p:spPr>
        <p:txBody>
          <a:bodyPr wrap="square">
            <a:spAutoFit/>
          </a:bodyPr>
          <a:lstStyle/>
          <a:p>
            <a:pPr>
              <a:defRPr sz="1000" b="1">
                <a:solidFill>
                  <a:srgbClr val="4F46E5"/>
                </a:solidFill>
              </a:defRPr>
            </a:pPr>
            <a:r>
              <a:t>SLIDE 03 | RELATED WORK</a:t>
            </a:r>
          </a:p>
        </p:txBody>
      </p:sp>
      <p:sp>
        <p:nvSpPr>
          <p:cNvPr id="5" name="TextBox 4"/>
          <p:cNvSpPr txBox="1"/>
          <p:nvPr/>
        </p:nvSpPr>
        <p:spPr>
          <a:xfrm>
            <a:off x="731520" y="640080"/>
            <a:ext cx="10698480" cy="731520"/>
          </a:xfrm>
          <a:prstGeom prst="rect">
            <a:avLst/>
          </a:prstGeom>
          <a:noFill/>
        </p:spPr>
        <p:txBody>
          <a:bodyPr wrap="square">
            <a:spAutoFit/>
          </a:bodyPr>
          <a:lstStyle/>
          <a:p>
            <a:pPr>
              <a:defRPr sz="2200" b="1">
                <a:solidFill>
                  <a:srgbClr val="1E293B"/>
                </a:solidFill>
              </a:defRPr>
            </a:pPr>
            <a:r>
              <a:t>LITERATURE SURVEY &amp; BENCHMARK COMPARISON</a:t>
            </a:r>
          </a:p>
        </p:txBody>
      </p:sp>
      <p:sp>
        <p:nvSpPr>
          <p:cNvPr id="6" name="TextBox 5"/>
          <p:cNvSpPr txBox="1"/>
          <p:nvPr/>
        </p:nvSpPr>
        <p:spPr>
          <a:xfrm>
            <a:off x="731520" y="1280160"/>
            <a:ext cx="10698480" cy="365760"/>
          </a:xfrm>
          <a:prstGeom prst="rect">
            <a:avLst/>
          </a:prstGeom>
          <a:noFill/>
        </p:spPr>
        <p:txBody>
          <a:bodyPr wrap="square">
            <a:spAutoFit/>
          </a:bodyPr>
          <a:lstStyle/>
          <a:p>
            <a:pPr>
              <a:defRPr sz="1200" i="1">
                <a:solidFill>
                  <a:srgbClr val="64748B"/>
                </a:solidFill>
              </a:defRPr>
            </a:pPr>
            <a:r>
              <a:t>Critical Analysis of Existing Methodologies and Identified Research Gaps</a:t>
            </a:r>
          </a:p>
        </p:txBody>
      </p:sp>
      <p:sp>
        <p:nvSpPr>
          <p:cNvPr id="7" name="Rounded Rectangle 6"/>
          <p:cNvSpPr/>
          <p:nvPr/>
        </p:nvSpPr>
        <p:spPr>
          <a:xfrm>
            <a:off x="731520" y="1737360"/>
            <a:ext cx="10698480"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20240"/>
            <a:ext cx="10149840" cy="4206240"/>
          </a:xfrm>
          <a:prstGeom prst="rect">
            <a:avLst/>
          </a:prstGeom>
          <a:noFill/>
        </p:spPr>
        <p:txBody>
          <a:bodyPr wrap="square">
            <a:spAutoFit/>
          </a:bodyPr>
          <a:lstStyle/>
          <a:p>
            <a:pPr>
              <a:spcAft>
                <a:spcPts val="800"/>
              </a:spcAft>
              <a:defRPr sz="1300" b="0">
                <a:solidFill>
                  <a:srgbClr val="0F172A"/>
                </a:solidFill>
              </a:defRPr>
            </a:pPr>
            <a:r>
              <a:t>Traditional Machine Learning (SVM, Random Forests):</a:t>
            </a:r>
          </a:p>
          <a:p>
            <a:pPr>
              <a:spcAft>
                <a:spcPts val="800"/>
              </a:spcAft>
              <a:defRPr sz="1200">
                <a:solidFill>
                  <a:srgbClr val="64748B"/>
                </a:solidFill>
              </a:defRPr>
            </a:pPr>
            <a:r>
              <a:t>  • Relies on handcrafted statistical features. Struggles to capture hierarchical non-linear relationships (~72% accuracy).</a:t>
            </a:r>
          </a:p>
          <a:p>
            <a:pPr>
              <a:spcAft>
                <a:spcPts val="800"/>
              </a:spcAft>
              <a:defRPr sz="1300" b="0">
                <a:solidFill>
                  <a:srgbClr val="0F172A"/>
                </a:solidFill>
              </a:defRPr>
            </a:pPr>
            <a:r>
              <a:t>2D-CNN Models on Spectrogram Images (ResNet, VGG):</a:t>
            </a:r>
          </a:p>
          <a:p>
            <a:pPr>
              <a:spcAft>
                <a:spcPts val="800"/>
              </a:spcAft>
              <a:defRPr sz="1200">
                <a:solidFill>
                  <a:srgbClr val="64748B"/>
                </a:solidFill>
              </a:defRPr>
            </a:pPr>
            <a:r>
              <a:t>  • High accuracy (~79%), but computationally heavy. Requires costly cloud GPU instances with high inference latency.</a:t>
            </a:r>
          </a:p>
          <a:p>
            <a:pPr>
              <a:spcAft>
                <a:spcPts val="800"/>
              </a:spcAft>
              <a:defRPr sz="1300" b="0">
                <a:solidFill>
                  <a:srgbClr val="0F172A"/>
                </a:solidFill>
              </a:defRPr>
            </a:pPr>
            <a:r>
              <a:t>Recurrent Models (LSTM, Bi-LSTM):</a:t>
            </a:r>
          </a:p>
          <a:p>
            <a:pPr>
              <a:spcAft>
                <a:spcPts val="800"/>
              </a:spcAft>
              <a:defRPr sz="1200">
                <a:solidFill>
                  <a:srgbClr val="64748B"/>
                </a:solidFill>
              </a:defRPr>
            </a:pPr>
            <a:r>
              <a:t>  • Prone to vanishing gradients over long audio segments; high sequential training overhead (~78% accuracy).</a:t>
            </a:r>
          </a:p>
          <a:p>
            <a:pPr>
              <a:spcAft>
                <a:spcPts val="800"/>
              </a:spcAft>
              <a:defRPr sz="1300" b="0">
                <a:solidFill>
                  <a:srgbClr val="0F172A"/>
                </a:solidFill>
              </a:defRPr>
            </a:pPr>
            <a:r>
              <a:t>Proposed EmoSense Approach (Deep 1D-CNN + Multi-Feature Fusion):</a:t>
            </a:r>
          </a:p>
          <a:p>
            <a:pPr>
              <a:spcAft>
                <a:spcPts val="800"/>
              </a:spcAft>
              <a:defRPr sz="1200">
                <a:solidFill>
                  <a:srgbClr val="64748B"/>
                </a:solidFill>
              </a:defRPr>
            </a:pPr>
            <a:r>
              <a:t>  • Combines 40 MFCCs, 12 Chroma, and 128 Mel Spectrogram features into a 180-dim representation.</a:t>
            </a:r>
          </a:p>
          <a:p>
            <a:pPr>
              <a:spcAft>
                <a:spcPts val="800"/>
              </a:spcAft>
              <a:defRPr sz="1200">
                <a:solidFill>
                  <a:srgbClr val="64748B"/>
                </a:solidFill>
              </a:defRPr>
            </a:pPr>
            <a:r>
              <a:t>  • Achieves 82.4% test accuracy with sub-second CPU inference on free AWS EC2 cloud infrastructure.</a:t>
            </a:r>
          </a:p>
        </p:txBody>
      </p:sp>
      <p:sp>
        <p:nvSpPr>
          <p:cNvPr id="9" name="TextBox 8"/>
          <p:cNvSpPr txBox="1"/>
          <p:nvPr/>
        </p:nvSpPr>
        <p:spPr>
          <a:xfrm>
            <a:off x="731520" y="6446520"/>
            <a:ext cx="10698480" cy="320040"/>
          </a:xfrm>
          <a:prstGeom prst="rect">
            <a:avLst/>
          </a:prstGeom>
          <a:noFill/>
        </p:spPr>
        <p:txBody>
          <a:bodyPr wrap="none">
            <a:spAutoFit/>
          </a:bodyPr>
          <a:lstStyle/>
          <a:p>
            <a:pPr>
              <a:defRPr sz="900">
                <a:solidFill>
                  <a:srgbClr val="64748B"/>
                </a:solidFill>
              </a:defRPr>
            </a:pPr>
            <a:r>
              <a:t>EmoSense: Speech Emotion Detection System | B.E. Final Year Major Project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7160"/>
          </a:xfrm>
          <a:prstGeom prst="rect">
            <a:avLst/>
          </a:prstGeom>
          <a:solidFill>
            <a:srgbClr val="4F46E5"/>
          </a:solidFill>
          <a:ln>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5486400" cy="365760"/>
          </a:xfrm>
          <a:prstGeom prst="rect">
            <a:avLst/>
          </a:prstGeom>
          <a:noFill/>
        </p:spPr>
        <p:txBody>
          <a:bodyPr wrap="square">
            <a:spAutoFit/>
          </a:bodyPr>
          <a:lstStyle/>
          <a:p>
            <a:pPr>
              <a:defRPr sz="1000" b="1">
                <a:solidFill>
                  <a:srgbClr val="4F46E5"/>
                </a:solidFill>
              </a:defRPr>
            </a:pPr>
            <a:r>
              <a:t>SLIDE 04 | SYSTEM DESIGN</a:t>
            </a:r>
          </a:p>
        </p:txBody>
      </p:sp>
      <p:sp>
        <p:nvSpPr>
          <p:cNvPr id="5" name="TextBox 4"/>
          <p:cNvSpPr txBox="1"/>
          <p:nvPr/>
        </p:nvSpPr>
        <p:spPr>
          <a:xfrm>
            <a:off x="731520" y="640080"/>
            <a:ext cx="10698480" cy="731520"/>
          </a:xfrm>
          <a:prstGeom prst="rect">
            <a:avLst/>
          </a:prstGeom>
          <a:noFill/>
        </p:spPr>
        <p:txBody>
          <a:bodyPr wrap="square">
            <a:spAutoFit/>
          </a:bodyPr>
          <a:lstStyle/>
          <a:p>
            <a:pPr>
              <a:defRPr sz="2200" b="1">
                <a:solidFill>
                  <a:srgbClr val="1E293B"/>
                </a:solidFill>
              </a:defRPr>
            </a:pPr>
            <a:r>
              <a:t>SYSTEM ARCHITECTURE &amp; WORKFLOW</a:t>
            </a:r>
          </a:p>
        </p:txBody>
      </p:sp>
      <p:sp>
        <p:nvSpPr>
          <p:cNvPr id="6" name="TextBox 5"/>
          <p:cNvSpPr txBox="1"/>
          <p:nvPr/>
        </p:nvSpPr>
        <p:spPr>
          <a:xfrm>
            <a:off x="731520" y="1280160"/>
            <a:ext cx="10698480" cy="365760"/>
          </a:xfrm>
          <a:prstGeom prst="rect">
            <a:avLst/>
          </a:prstGeom>
          <a:noFill/>
        </p:spPr>
        <p:txBody>
          <a:bodyPr wrap="square">
            <a:spAutoFit/>
          </a:bodyPr>
          <a:lstStyle/>
          <a:p>
            <a:pPr>
              <a:defRPr sz="1200" i="1">
                <a:solidFill>
                  <a:srgbClr val="64748B"/>
                </a:solidFill>
              </a:defRPr>
            </a:pPr>
            <a:r>
              <a:t>End-to-End Client-Cloud Affective Computing Pipeline</a:t>
            </a:r>
          </a:p>
        </p:txBody>
      </p:sp>
      <p:sp>
        <p:nvSpPr>
          <p:cNvPr id="7" name="Rounded Rectangle 6"/>
          <p:cNvSpPr/>
          <p:nvPr/>
        </p:nvSpPr>
        <p:spPr>
          <a:xfrm>
            <a:off x="731520" y="1737360"/>
            <a:ext cx="10698480"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20240"/>
            <a:ext cx="10149840" cy="4206240"/>
          </a:xfrm>
          <a:prstGeom prst="rect">
            <a:avLst/>
          </a:prstGeom>
          <a:noFill/>
        </p:spPr>
        <p:txBody>
          <a:bodyPr wrap="square">
            <a:spAutoFit/>
          </a:bodyPr>
          <a:lstStyle/>
          <a:p>
            <a:pPr>
              <a:spcAft>
                <a:spcPts val="800"/>
              </a:spcAft>
              <a:defRPr sz="1300" b="0">
                <a:solidFill>
                  <a:srgbClr val="0F172A"/>
                </a:solidFill>
              </a:defRPr>
            </a:pPr>
            <a:r>
              <a:t>1. User Audio Input: High-fidelity voice capture via browser microphone or file upload (WAV/MP3).</a:t>
            </a:r>
          </a:p>
          <a:p>
            <a:pPr>
              <a:spcAft>
                <a:spcPts val="800"/>
              </a:spcAft>
              <a:defRPr sz="1300" b="0">
                <a:solidFill>
                  <a:srgbClr val="0F172A"/>
                </a:solidFill>
              </a:defRPr>
            </a:pPr>
            <a:r>
              <a:t>2. In-Browser Transcoder: Client Web Audio API converts WebM/Opus to 16-bit PCM WAV (22,050 Hz Mono).</a:t>
            </a:r>
          </a:p>
          <a:p>
            <a:pPr>
              <a:spcAft>
                <a:spcPts val="800"/>
              </a:spcAft>
              <a:defRPr sz="1300" b="0">
                <a:solidFill>
                  <a:srgbClr val="0F172A"/>
                </a:solidFill>
              </a:defRPr>
            </a:pPr>
            <a:r>
              <a:t>3. Edge Proxying: Netlify Global Edge CDN routes API calls via SSL rewrite proxy to AWS EC2.</a:t>
            </a:r>
          </a:p>
          <a:p>
            <a:pPr>
              <a:spcAft>
                <a:spcPts val="800"/>
              </a:spcAft>
              <a:defRPr sz="1300" b="0">
                <a:solidFill>
                  <a:srgbClr val="0F172A"/>
                </a:solidFill>
              </a:defRPr>
            </a:pPr>
            <a:r>
              <a:t>4. Cloud Gateway: Nginx reverse proxy on AWS EC2 handles port 80 traffic and forwards to Gunicorn WSGI.</a:t>
            </a:r>
          </a:p>
          <a:p>
            <a:pPr>
              <a:spcAft>
                <a:spcPts val="800"/>
              </a:spcAft>
              <a:defRPr sz="1300" b="0">
                <a:solidFill>
                  <a:srgbClr val="0F172A"/>
                </a:solidFill>
              </a:defRPr>
            </a:pPr>
            <a:r>
              <a:t>5. Acoustic Preprocessing: Librosa dead-air silence trimming (top_db=35) isolates active speech segments.</a:t>
            </a:r>
          </a:p>
          <a:p>
            <a:pPr>
              <a:spcAft>
                <a:spcPts val="800"/>
              </a:spcAft>
              <a:defRPr sz="1300" b="0">
                <a:solidFill>
                  <a:srgbClr val="0F172A"/>
                </a:solidFill>
              </a:defRPr>
            </a:pPr>
            <a:r>
              <a:t>6. 180-Dim Feature Extractor: Computes MFCCs, Chroma pitch classes, and Mel Spectrogram power bins.</a:t>
            </a:r>
          </a:p>
          <a:p>
            <a:pPr>
              <a:spcAft>
                <a:spcPts val="800"/>
              </a:spcAft>
              <a:defRPr sz="1300" b="0">
                <a:solidFill>
                  <a:srgbClr val="0F172A"/>
                </a:solidFill>
              </a:defRPr>
            </a:pPr>
            <a:r>
              <a:t>7. Deep 1D-CNN Inference: Evaluates feature tensor and applies temperature-calibrated softmax (T=2.2).</a:t>
            </a:r>
          </a:p>
          <a:p>
            <a:pPr>
              <a:spcAft>
                <a:spcPts val="800"/>
              </a:spcAft>
              <a:defRPr sz="1300" b="0">
                <a:solidFill>
                  <a:srgbClr val="0F172A"/>
                </a:solidFill>
              </a:defRPr>
            </a:pPr>
            <a:r>
              <a:t>8. Interactive UI Display: Renders top emotion, emoji, confidence score, and all 8 probability bars.</a:t>
            </a:r>
          </a:p>
        </p:txBody>
      </p:sp>
      <p:sp>
        <p:nvSpPr>
          <p:cNvPr id="9" name="TextBox 8"/>
          <p:cNvSpPr txBox="1"/>
          <p:nvPr/>
        </p:nvSpPr>
        <p:spPr>
          <a:xfrm>
            <a:off x="731520" y="6446520"/>
            <a:ext cx="10698480" cy="320040"/>
          </a:xfrm>
          <a:prstGeom prst="rect">
            <a:avLst/>
          </a:prstGeom>
          <a:noFill/>
        </p:spPr>
        <p:txBody>
          <a:bodyPr wrap="none">
            <a:spAutoFit/>
          </a:bodyPr>
          <a:lstStyle/>
          <a:p>
            <a:pPr>
              <a:defRPr sz="900">
                <a:solidFill>
                  <a:srgbClr val="64748B"/>
                </a:solidFill>
              </a:defRPr>
            </a:pPr>
            <a:r>
              <a:t>EmoSense: Speech Emotion Detection System | B.E. Final Year Major Project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7160"/>
          </a:xfrm>
          <a:prstGeom prst="rect">
            <a:avLst/>
          </a:prstGeom>
          <a:solidFill>
            <a:srgbClr val="4F46E5"/>
          </a:solidFill>
          <a:ln>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5486400" cy="365760"/>
          </a:xfrm>
          <a:prstGeom prst="rect">
            <a:avLst/>
          </a:prstGeom>
          <a:noFill/>
        </p:spPr>
        <p:txBody>
          <a:bodyPr wrap="square">
            <a:spAutoFit/>
          </a:bodyPr>
          <a:lstStyle/>
          <a:p>
            <a:pPr>
              <a:defRPr sz="1000" b="1">
                <a:solidFill>
                  <a:srgbClr val="4F46E5"/>
                </a:solidFill>
              </a:defRPr>
            </a:pPr>
            <a:r>
              <a:t>SLIDE 05 | FEATURE EXTRACTION</a:t>
            </a:r>
          </a:p>
        </p:txBody>
      </p:sp>
      <p:sp>
        <p:nvSpPr>
          <p:cNvPr id="5" name="TextBox 4"/>
          <p:cNvSpPr txBox="1"/>
          <p:nvPr/>
        </p:nvSpPr>
        <p:spPr>
          <a:xfrm>
            <a:off x="731520" y="640080"/>
            <a:ext cx="10698480" cy="731520"/>
          </a:xfrm>
          <a:prstGeom prst="rect">
            <a:avLst/>
          </a:prstGeom>
          <a:noFill/>
        </p:spPr>
        <p:txBody>
          <a:bodyPr wrap="square">
            <a:spAutoFit/>
          </a:bodyPr>
          <a:lstStyle/>
          <a:p>
            <a:pPr>
              <a:defRPr sz="2200" b="1">
                <a:solidFill>
                  <a:srgbClr val="1E293B"/>
                </a:solidFill>
              </a:defRPr>
            </a:pPr>
            <a:r>
              <a:t>ACOUSTIC FEATURE ENGINEERING</a:t>
            </a:r>
          </a:p>
        </p:txBody>
      </p:sp>
      <p:sp>
        <p:nvSpPr>
          <p:cNvPr id="6" name="TextBox 5"/>
          <p:cNvSpPr txBox="1"/>
          <p:nvPr/>
        </p:nvSpPr>
        <p:spPr>
          <a:xfrm>
            <a:off x="731520" y="1280160"/>
            <a:ext cx="10698480" cy="365760"/>
          </a:xfrm>
          <a:prstGeom prst="rect">
            <a:avLst/>
          </a:prstGeom>
          <a:noFill/>
        </p:spPr>
        <p:txBody>
          <a:bodyPr wrap="square">
            <a:spAutoFit/>
          </a:bodyPr>
          <a:lstStyle/>
          <a:p>
            <a:pPr>
              <a:defRPr sz="1200" i="1">
                <a:solidFill>
                  <a:srgbClr val="64748B"/>
                </a:solidFill>
              </a:defRPr>
            </a:pPr>
            <a:r>
              <a:t>Mathematical Formulation of the 180-Dimensional Fused Feature Vector</a:t>
            </a:r>
          </a:p>
        </p:txBody>
      </p:sp>
      <p:sp>
        <p:nvSpPr>
          <p:cNvPr id="7" name="Rounded Rectangle 6"/>
          <p:cNvSpPr/>
          <p:nvPr/>
        </p:nvSpPr>
        <p:spPr>
          <a:xfrm>
            <a:off x="731520" y="1737360"/>
            <a:ext cx="10698480"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20240"/>
            <a:ext cx="10149840" cy="4206240"/>
          </a:xfrm>
          <a:prstGeom prst="rect">
            <a:avLst/>
          </a:prstGeom>
          <a:noFill/>
        </p:spPr>
        <p:txBody>
          <a:bodyPr wrap="square">
            <a:spAutoFit/>
          </a:bodyPr>
          <a:lstStyle/>
          <a:p>
            <a:pPr>
              <a:spcAft>
                <a:spcPts val="800"/>
              </a:spcAft>
              <a:defRPr sz="1300" b="0">
                <a:solidFill>
                  <a:srgbClr val="0F172A"/>
                </a:solidFill>
              </a:defRPr>
            </a:pPr>
            <a:r>
              <a:t>1. Mel-Frequency Cepstral Coefficients (MFCCs) — 40 Features:</a:t>
            </a:r>
          </a:p>
          <a:p>
            <a:pPr>
              <a:spcAft>
                <a:spcPts val="800"/>
              </a:spcAft>
              <a:defRPr sz="1200">
                <a:solidFill>
                  <a:srgbClr val="64748B"/>
                </a:solidFill>
              </a:defRPr>
            </a:pPr>
            <a:r>
              <a:t>  • Maps frequency onto human auditory perception: M(f) = 2595 * log10(1 + f/700).</a:t>
            </a:r>
          </a:p>
          <a:p>
            <a:pPr>
              <a:spcAft>
                <a:spcPts val="800"/>
              </a:spcAft>
              <a:defRPr sz="1200">
                <a:solidFill>
                  <a:srgbClr val="64748B"/>
                </a:solidFill>
              </a:defRPr>
            </a:pPr>
            <a:r>
              <a:t>  • Captures vocal tract shape, tongue position, and vowel formant resonances.</a:t>
            </a:r>
          </a:p>
          <a:p>
            <a:pPr>
              <a:spcAft>
                <a:spcPts val="800"/>
              </a:spcAft>
              <a:defRPr sz="1300" b="0">
                <a:solidFill>
                  <a:srgbClr val="0F172A"/>
                </a:solidFill>
              </a:defRPr>
            </a:pPr>
            <a:r>
              <a:t>2. Chroma Short-Time Fourier Transform (Chroma STFT) — 12 Features:</a:t>
            </a:r>
          </a:p>
          <a:p>
            <a:pPr>
              <a:spcAft>
                <a:spcPts val="800"/>
              </a:spcAft>
              <a:defRPr sz="1200">
                <a:solidFill>
                  <a:srgbClr val="64748B"/>
                </a:solidFill>
              </a:defRPr>
            </a:pPr>
            <a:r>
              <a:t>  • Projects spectral energy onto 12 semitone musical pitch classes (C, C#, D, ..., B).</a:t>
            </a:r>
          </a:p>
          <a:p>
            <a:pPr>
              <a:spcAft>
                <a:spcPts val="800"/>
              </a:spcAft>
              <a:defRPr sz="1200">
                <a:solidFill>
                  <a:srgbClr val="64748B"/>
                </a:solidFill>
              </a:defRPr>
            </a:pPr>
            <a:r>
              <a:t>  • Identifies fundamental harmonic shifts that distinguish Happy/Surprise from Sadness.</a:t>
            </a:r>
          </a:p>
          <a:p>
            <a:pPr>
              <a:spcAft>
                <a:spcPts val="800"/>
              </a:spcAft>
              <a:defRPr sz="1300" b="0">
                <a:solidFill>
                  <a:srgbClr val="0F172A"/>
                </a:solidFill>
              </a:defRPr>
            </a:pPr>
            <a:r>
              <a:t>3. Mel-Scaled Spectrogram — 128 Features:</a:t>
            </a:r>
          </a:p>
          <a:p>
            <a:pPr>
              <a:spcAft>
                <a:spcPts val="800"/>
              </a:spcAft>
              <a:defRPr sz="1200">
                <a:solidFill>
                  <a:srgbClr val="64748B"/>
                </a:solidFill>
              </a:defRPr>
            </a:pPr>
            <a:r>
              <a:t>  • Measures spectral power density across 128 non-linear frequency bands.</a:t>
            </a:r>
          </a:p>
          <a:p>
            <a:pPr>
              <a:spcAft>
                <a:spcPts val="800"/>
              </a:spcAft>
              <a:defRPr sz="1200">
                <a:solidFill>
                  <a:srgbClr val="64748B"/>
                </a:solidFill>
              </a:defRPr>
            </a:pPr>
            <a:r>
              <a:t>  • Detects vocal loudness dynamics, breathiness, and harshness (e.g. Anger vs Calm).</a:t>
            </a:r>
          </a:p>
          <a:p>
            <a:pPr>
              <a:spcAft>
                <a:spcPts val="800"/>
              </a:spcAft>
              <a:defRPr sz="1300" b="0">
                <a:solidFill>
                  <a:srgbClr val="0F172A"/>
                </a:solidFill>
              </a:defRPr>
            </a:pPr>
            <a:r>
              <a:t>Total Feature Tensor: Concatenation yields a rich 180 x 1 input representation.</a:t>
            </a:r>
          </a:p>
        </p:txBody>
      </p:sp>
      <p:sp>
        <p:nvSpPr>
          <p:cNvPr id="9" name="TextBox 8"/>
          <p:cNvSpPr txBox="1"/>
          <p:nvPr/>
        </p:nvSpPr>
        <p:spPr>
          <a:xfrm>
            <a:off x="731520" y="6446520"/>
            <a:ext cx="10698480" cy="320040"/>
          </a:xfrm>
          <a:prstGeom prst="rect">
            <a:avLst/>
          </a:prstGeom>
          <a:noFill/>
        </p:spPr>
        <p:txBody>
          <a:bodyPr wrap="none">
            <a:spAutoFit/>
          </a:bodyPr>
          <a:lstStyle/>
          <a:p>
            <a:pPr>
              <a:defRPr sz="900">
                <a:solidFill>
                  <a:srgbClr val="64748B"/>
                </a:solidFill>
              </a:defRPr>
            </a:pPr>
            <a:r>
              <a:t>EmoSense: Speech Emotion Detection System | B.E. Final Year Major Project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7160"/>
          </a:xfrm>
          <a:prstGeom prst="rect">
            <a:avLst/>
          </a:prstGeom>
          <a:solidFill>
            <a:srgbClr val="4F46E5"/>
          </a:solidFill>
          <a:ln>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5486400" cy="365760"/>
          </a:xfrm>
          <a:prstGeom prst="rect">
            <a:avLst/>
          </a:prstGeom>
          <a:noFill/>
        </p:spPr>
        <p:txBody>
          <a:bodyPr wrap="square">
            <a:spAutoFit/>
          </a:bodyPr>
          <a:lstStyle/>
          <a:p>
            <a:pPr>
              <a:defRPr sz="1000" b="1">
                <a:solidFill>
                  <a:srgbClr val="4F46E5"/>
                </a:solidFill>
              </a:defRPr>
            </a:pPr>
            <a:r>
              <a:t>SLIDE 06 | MODEL DESIGN</a:t>
            </a:r>
          </a:p>
        </p:txBody>
      </p:sp>
      <p:sp>
        <p:nvSpPr>
          <p:cNvPr id="5" name="TextBox 4"/>
          <p:cNvSpPr txBox="1"/>
          <p:nvPr/>
        </p:nvSpPr>
        <p:spPr>
          <a:xfrm>
            <a:off x="731520" y="640080"/>
            <a:ext cx="10698480" cy="731520"/>
          </a:xfrm>
          <a:prstGeom prst="rect">
            <a:avLst/>
          </a:prstGeom>
          <a:noFill/>
        </p:spPr>
        <p:txBody>
          <a:bodyPr wrap="square">
            <a:spAutoFit/>
          </a:bodyPr>
          <a:lstStyle/>
          <a:p>
            <a:pPr>
              <a:defRPr sz="2200" b="1">
                <a:solidFill>
                  <a:srgbClr val="1E293B"/>
                </a:solidFill>
              </a:defRPr>
            </a:pPr>
            <a:r>
              <a:t>DEEP 1D-CNN MODEL ARCHITECTURE</a:t>
            </a:r>
          </a:p>
        </p:txBody>
      </p:sp>
      <p:sp>
        <p:nvSpPr>
          <p:cNvPr id="6" name="TextBox 5"/>
          <p:cNvSpPr txBox="1"/>
          <p:nvPr/>
        </p:nvSpPr>
        <p:spPr>
          <a:xfrm>
            <a:off x="731520" y="1280160"/>
            <a:ext cx="10698480" cy="365760"/>
          </a:xfrm>
          <a:prstGeom prst="rect">
            <a:avLst/>
          </a:prstGeom>
          <a:noFill/>
        </p:spPr>
        <p:txBody>
          <a:bodyPr wrap="square">
            <a:spAutoFit/>
          </a:bodyPr>
          <a:lstStyle/>
          <a:p>
            <a:pPr>
              <a:defRPr sz="1200" i="1">
                <a:solidFill>
                  <a:srgbClr val="64748B"/>
                </a:solidFill>
              </a:defRPr>
            </a:pPr>
            <a:r>
              <a:t>Hierarchical Feature Extraction via 1D Convolutions and Regularization</a:t>
            </a:r>
          </a:p>
        </p:txBody>
      </p:sp>
      <p:sp>
        <p:nvSpPr>
          <p:cNvPr id="7" name="Rounded Rectangle 6"/>
          <p:cNvSpPr/>
          <p:nvPr/>
        </p:nvSpPr>
        <p:spPr>
          <a:xfrm>
            <a:off x="731520" y="1737360"/>
            <a:ext cx="10698480"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20240"/>
            <a:ext cx="10149840" cy="4206240"/>
          </a:xfrm>
          <a:prstGeom prst="rect">
            <a:avLst/>
          </a:prstGeom>
          <a:noFill/>
        </p:spPr>
        <p:txBody>
          <a:bodyPr wrap="square">
            <a:spAutoFit/>
          </a:bodyPr>
          <a:lstStyle/>
          <a:p>
            <a:pPr>
              <a:spcAft>
                <a:spcPts val="800"/>
              </a:spcAft>
              <a:defRPr sz="1300" b="0">
                <a:solidFill>
                  <a:srgbClr val="0F172A"/>
                </a:solidFill>
              </a:defRPr>
            </a:pPr>
            <a:r>
              <a:t>Input Shape: (180, 1) — Fused acoustic feature vector.</a:t>
            </a:r>
          </a:p>
          <a:p>
            <a:pPr>
              <a:spcAft>
                <a:spcPts val="800"/>
              </a:spcAft>
              <a:defRPr sz="1300" b="0">
                <a:solidFill>
                  <a:srgbClr val="0F172A"/>
                </a:solidFill>
              </a:defRPr>
            </a:pPr>
            <a:r>
              <a:t>Layer 1: Conv1D (256 filters, kernel size 5, padding='same', ReLU activation).</a:t>
            </a:r>
          </a:p>
          <a:p>
            <a:pPr>
              <a:spcAft>
                <a:spcPts val="800"/>
              </a:spcAft>
              <a:defRPr sz="1300" b="0">
                <a:solidFill>
                  <a:srgbClr val="0F172A"/>
                </a:solidFill>
              </a:defRPr>
            </a:pPr>
            <a:r>
              <a:t>Layer 2: Conv1D (128 filters, kernel size 5, L1=1e-5 / L2=1e-4 kernel regularization).</a:t>
            </a:r>
          </a:p>
          <a:p>
            <a:pPr>
              <a:spcAft>
                <a:spcPts val="800"/>
              </a:spcAft>
              <a:defRPr sz="1300" b="0">
                <a:solidFill>
                  <a:srgbClr val="0F172A"/>
                </a:solidFill>
              </a:defRPr>
            </a:pPr>
            <a:r>
              <a:t>Regularization &amp; Pooling: Dropout (0.10) + MaxPooling1D (pool size = 8).</a:t>
            </a:r>
          </a:p>
          <a:p>
            <a:pPr>
              <a:spcAft>
                <a:spcPts val="800"/>
              </a:spcAft>
              <a:defRPr sz="1300" b="0">
                <a:solidFill>
                  <a:srgbClr val="0F172A"/>
                </a:solidFill>
              </a:defRPr>
            </a:pPr>
            <a:r>
              <a:t>Layer 3: Conv1D (128 filters, kernel size 5, L1/L2 regularized, ReLU).</a:t>
            </a:r>
          </a:p>
          <a:p>
            <a:pPr>
              <a:spcAft>
                <a:spcPts val="800"/>
              </a:spcAft>
              <a:defRPr sz="1300" b="0">
                <a:solidFill>
                  <a:srgbClr val="0F172A"/>
                </a:solidFill>
              </a:defRPr>
            </a:pPr>
            <a:r>
              <a:t>Layer 4: Conv1D (128 filters, kernel size 5, L1/L2 regularized, ReLU).</a:t>
            </a:r>
          </a:p>
          <a:p>
            <a:pPr>
              <a:spcAft>
                <a:spcPts val="800"/>
              </a:spcAft>
              <a:defRPr sz="1300" b="0">
                <a:solidFill>
                  <a:srgbClr val="0F172A"/>
                </a:solidFill>
              </a:defRPr>
            </a:pPr>
            <a:r>
              <a:t>Fully Connected Classification: Dropout (0.50) + Flatten + Dense (8 units, Softmax).</a:t>
            </a:r>
          </a:p>
          <a:p>
            <a:pPr>
              <a:spcAft>
                <a:spcPts val="800"/>
              </a:spcAft>
              <a:defRPr sz="1300" b="0">
                <a:solidFill>
                  <a:srgbClr val="0F172A"/>
                </a:solidFill>
              </a:defRPr>
            </a:pPr>
            <a:r>
              <a:t>Optimization: Adam Optimizer (initial lr=0.001, decay=1e-6, sparse categorical cross-entropy loss).</a:t>
            </a:r>
          </a:p>
        </p:txBody>
      </p:sp>
      <p:sp>
        <p:nvSpPr>
          <p:cNvPr id="9" name="TextBox 8"/>
          <p:cNvSpPr txBox="1"/>
          <p:nvPr/>
        </p:nvSpPr>
        <p:spPr>
          <a:xfrm>
            <a:off x="731520" y="6446520"/>
            <a:ext cx="10698480" cy="320040"/>
          </a:xfrm>
          <a:prstGeom prst="rect">
            <a:avLst/>
          </a:prstGeom>
          <a:noFill/>
        </p:spPr>
        <p:txBody>
          <a:bodyPr wrap="none">
            <a:spAutoFit/>
          </a:bodyPr>
          <a:lstStyle/>
          <a:p>
            <a:pPr>
              <a:defRPr sz="900">
                <a:solidFill>
                  <a:srgbClr val="64748B"/>
                </a:solidFill>
              </a:defRPr>
            </a:pPr>
            <a:r>
              <a:t>EmoSense: Speech Emotion Detection System | B.E. Final Year Major Project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7160"/>
          </a:xfrm>
          <a:prstGeom prst="rect">
            <a:avLst/>
          </a:prstGeom>
          <a:solidFill>
            <a:srgbClr val="4F46E5"/>
          </a:solidFill>
          <a:ln>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5486400" cy="365760"/>
          </a:xfrm>
          <a:prstGeom prst="rect">
            <a:avLst/>
          </a:prstGeom>
          <a:noFill/>
        </p:spPr>
        <p:txBody>
          <a:bodyPr wrap="square">
            <a:spAutoFit/>
          </a:bodyPr>
          <a:lstStyle/>
          <a:p>
            <a:pPr>
              <a:defRPr sz="1000" b="1">
                <a:solidFill>
                  <a:srgbClr val="4F46E5"/>
                </a:solidFill>
              </a:defRPr>
            </a:pPr>
            <a:r>
              <a:t>SLIDE 07 | DATASET ANALYSIS</a:t>
            </a:r>
          </a:p>
        </p:txBody>
      </p:sp>
      <p:sp>
        <p:nvSpPr>
          <p:cNvPr id="5" name="TextBox 4"/>
          <p:cNvSpPr txBox="1"/>
          <p:nvPr/>
        </p:nvSpPr>
        <p:spPr>
          <a:xfrm>
            <a:off x="731520" y="640080"/>
            <a:ext cx="10698480" cy="731520"/>
          </a:xfrm>
          <a:prstGeom prst="rect">
            <a:avLst/>
          </a:prstGeom>
          <a:noFill/>
        </p:spPr>
        <p:txBody>
          <a:bodyPr wrap="square">
            <a:spAutoFit/>
          </a:bodyPr>
          <a:lstStyle/>
          <a:p>
            <a:pPr>
              <a:defRPr sz="2200" b="1">
                <a:solidFill>
                  <a:srgbClr val="1E293B"/>
                </a:solidFill>
              </a:defRPr>
            </a:pPr>
            <a:r>
              <a:t>DATASET &amp; AUGMENTATION PIPELINE</a:t>
            </a:r>
          </a:p>
        </p:txBody>
      </p:sp>
      <p:sp>
        <p:nvSpPr>
          <p:cNvPr id="6" name="TextBox 5"/>
          <p:cNvSpPr txBox="1"/>
          <p:nvPr/>
        </p:nvSpPr>
        <p:spPr>
          <a:xfrm>
            <a:off x="731520" y="1280160"/>
            <a:ext cx="10698480" cy="365760"/>
          </a:xfrm>
          <a:prstGeom prst="rect">
            <a:avLst/>
          </a:prstGeom>
          <a:noFill/>
        </p:spPr>
        <p:txBody>
          <a:bodyPr wrap="square">
            <a:spAutoFit/>
          </a:bodyPr>
          <a:lstStyle/>
          <a:p>
            <a:pPr>
              <a:defRPr sz="1200" i="1">
                <a:solidFill>
                  <a:srgbClr val="64748B"/>
                </a:solidFill>
              </a:defRPr>
            </a:pPr>
            <a:r>
              <a:t>Ryerson Audio-Visual Database of Emotional Speech and Song (RAVDESS)</a:t>
            </a:r>
          </a:p>
        </p:txBody>
      </p:sp>
      <p:sp>
        <p:nvSpPr>
          <p:cNvPr id="7" name="Rounded Rectangle 6"/>
          <p:cNvSpPr/>
          <p:nvPr/>
        </p:nvSpPr>
        <p:spPr>
          <a:xfrm>
            <a:off x="731520" y="1737360"/>
            <a:ext cx="10698480"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20240"/>
            <a:ext cx="10149840" cy="4206240"/>
          </a:xfrm>
          <a:prstGeom prst="rect">
            <a:avLst/>
          </a:prstGeom>
          <a:noFill/>
        </p:spPr>
        <p:txBody>
          <a:bodyPr wrap="square">
            <a:spAutoFit/>
          </a:bodyPr>
          <a:lstStyle/>
          <a:p>
            <a:pPr>
              <a:spcAft>
                <a:spcPts val="800"/>
              </a:spcAft>
              <a:defRPr sz="1300" b="0">
                <a:solidFill>
                  <a:srgbClr val="0F172A"/>
                </a:solidFill>
              </a:defRPr>
            </a:pPr>
            <a:r>
              <a:t>Benchmark Corpus: RAVDESS (Ryerson Audio-Visual Database of Emotional Speech and Song).</a:t>
            </a:r>
          </a:p>
          <a:p>
            <a:pPr>
              <a:spcAft>
                <a:spcPts val="800"/>
              </a:spcAft>
              <a:defRPr sz="1300" b="0">
                <a:solidFill>
                  <a:srgbClr val="0F172A"/>
                </a:solidFill>
              </a:defRPr>
            </a:pPr>
            <a:r>
              <a:t>Demographics: 24 professional actors (12 male, 12 female) with neutral North American accents.</a:t>
            </a:r>
          </a:p>
          <a:p>
            <a:pPr>
              <a:spcAft>
                <a:spcPts val="800"/>
              </a:spcAft>
              <a:defRPr sz="1300" b="0">
                <a:solidFill>
                  <a:srgbClr val="0F172A"/>
                </a:solidFill>
              </a:defRPr>
            </a:pPr>
            <a:r>
              <a:t>8 Emotion Classes: Neutral (01), Calm (02), Happy (03), Sad (04), Angry (05), Fearful (06), Disgust (07), Surprised (08).</a:t>
            </a:r>
          </a:p>
          <a:p>
            <a:pPr>
              <a:spcAft>
                <a:spcPts val="800"/>
              </a:spcAft>
              <a:defRPr sz="1300" b="0">
                <a:solidFill>
                  <a:srgbClr val="0F172A"/>
                </a:solidFill>
              </a:defRPr>
            </a:pPr>
            <a:r>
              <a:t>Standard Lexical Statements: Every actor vocalizes two controlled sentences:</a:t>
            </a:r>
          </a:p>
          <a:p>
            <a:pPr>
              <a:spcAft>
                <a:spcPts val="800"/>
              </a:spcAft>
              <a:defRPr sz="1300">
                <a:solidFill>
                  <a:srgbClr val="0F172A"/>
                </a:solidFill>
              </a:defRPr>
            </a:pPr>
            <a:r>
              <a:t>  1. 'Kids are talking by the door'  |  2. 'Dogs are sitting by the door'</a:t>
            </a:r>
          </a:p>
          <a:p>
            <a:pPr>
              <a:spcAft>
                <a:spcPts val="800"/>
              </a:spcAft>
              <a:defRPr sz="1300" b="0">
                <a:solidFill>
                  <a:srgbClr val="0F172A"/>
                </a:solidFill>
              </a:defRPr>
            </a:pPr>
            <a:r>
              <a:t>Data Augmentation Techniques:</a:t>
            </a:r>
          </a:p>
          <a:p>
            <a:pPr>
              <a:spcAft>
                <a:spcPts val="800"/>
              </a:spcAft>
              <a:defRPr sz="1200">
                <a:solidFill>
                  <a:srgbClr val="64748B"/>
                </a:solidFill>
              </a:defRPr>
            </a:pPr>
            <a:r>
              <a:t>  • White Noise Injection (sigma = 0.001): Simulates real-world microphone noise floor.</a:t>
            </a:r>
          </a:p>
          <a:p>
            <a:pPr>
              <a:spcAft>
                <a:spcPts val="800"/>
              </a:spcAft>
              <a:defRPr sz="1200">
                <a:solidFill>
                  <a:srgbClr val="64748B"/>
                </a:solidFill>
              </a:defRPr>
            </a:pPr>
            <a:r>
              <a:t>  • Pitch &amp; Time Shifting (+/- 0.25 semitones): Simulates speaker vocal pitch variation.</a:t>
            </a:r>
          </a:p>
          <a:p>
            <a:pPr>
              <a:spcAft>
                <a:spcPts val="800"/>
              </a:spcAft>
              <a:defRPr sz="1300" b="0">
                <a:solidFill>
                  <a:srgbClr val="0F172A"/>
                </a:solidFill>
              </a:defRPr>
            </a:pPr>
            <a:r>
              <a:t>Dataset Expansion: Multiplied baseline 1,440 recordings to 7,356 balanced training samples.</a:t>
            </a:r>
          </a:p>
        </p:txBody>
      </p:sp>
      <p:sp>
        <p:nvSpPr>
          <p:cNvPr id="9" name="TextBox 8"/>
          <p:cNvSpPr txBox="1"/>
          <p:nvPr/>
        </p:nvSpPr>
        <p:spPr>
          <a:xfrm>
            <a:off x="731520" y="6446520"/>
            <a:ext cx="10698480" cy="320040"/>
          </a:xfrm>
          <a:prstGeom prst="rect">
            <a:avLst/>
          </a:prstGeom>
          <a:noFill/>
        </p:spPr>
        <p:txBody>
          <a:bodyPr wrap="none">
            <a:spAutoFit/>
          </a:bodyPr>
          <a:lstStyle/>
          <a:p>
            <a:pPr>
              <a:defRPr sz="900">
                <a:solidFill>
                  <a:srgbClr val="64748B"/>
                </a:solidFill>
              </a:defRPr>
            </a:pPr>
            <a:r>
              <a:t>EmoSense: Speech Emotion Detection System | B.E. Final Year Major Project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7160"/>
          </a:xfrm>
          <a:prstGeom prst="rect">
            <a:avLst/>
          </a:prstGeom>
          <a:solidFill>
            <a:srgbClr val="4F46E5"/>
          </a:solidFill>
          <a:ln>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5486400" cy="365760"/>
          </a:xfrm>
          <a:prstGeom prst="rect">
            <a:avLst/>
          </a:prstGeom>
          <a:noFill/>
        </p:spPr>
        <p:txBody>
          <a:bodyPr wrap="square">
            <a:spAutoFit/>
          </a:bodyPr>
          <a:lstStyle/>
          <a:p>
            <a:pPr>
              <a:defRPr sz="1000" b="1">
                <a:solidFill>
                  <a:srgbClr val="4F46E5"/>
                </a:solidFill>
              </a:defRPr>
            </a:pPr>
            <a:r>
              <a:t>SLIDE 08 | INNOVATION &amp; ENGINEERING</a:t>
            </a:r>
          </a:p>
        </p:txBody>
      </p:sp>
      <p:sp>
        <p:nvSpPr>
          <p:cNvPr id="5" name="TextBox 4"/>
          <p:cNvSpPr txBox="1"/>
          <p:nvPr/>
        </p:nvSpPr>
        <p:spPr>
          <a:xfrm>
            <a:off x="731520" y="640080"/>
            <a:ext cx="10698480" cy="731520"/>
          </a:xfrm>
          <a:prstGeom prst="rect">
            <a:avLst/>
          </a:prstGeom>
          <a:noFill/>
        </p:spPr>
        <p:txBody>
          <a:bodyPr wrap="square">
            <a:spAutoFit/>
          </a:bodyPr>
          <a:lstStyle/>
          <a:p>
            <a:pPr>
              <a:defRPr sz="2200" b="1">
                <a:solidFill>
                  <a:srgbClr val="1E293B"/>
                </a:solidFill>
              </a:defRPr>
            </a:pPr>
            <a:r>
              <a:t>KEY ENGINEERING BREAKTHROUGHS</a:t>
            </a:r>
          </a:p>
        </p:txBody>
      </p:sp>
      <p:sp>
        <p:nvSpPr>
          <p:cNvPr id="6" name="TextBox 5"/>
          <p:cNvSpPr txBox="1"/>
          <p:nvPr/>
        </p:nvSpPr>
        <p:spPr>
          <a:xfrm>
            <a:off x="731520" y="1280160"/>
            <a:ext cx="10698480" cy="365760"/>
          </a:xfrm>
          <a:prstGeom prst="rect">
            <a:avLst/>
          </a:prstGeom>
          <a:noFill/>
        </p:spPr>
        <p:txBody>
          <a:bodyPr wrap="square">
            <a:spAutoFit/>
          </a:bodyPr>
          <a:lstStyle/>
          <a:p>
            <a:pPr>
              <a:defRPr sz="1200" i="1">
                <a:solidFill>
                  <a:srgbClr val="64748B"/>
                </a:solidFill>
              </a:defRPr>
            </a:pPr>
            <a:r>
              <a:t>Solving Three Critical Real-World Production Challenges</a:t>
            </a:r>
          </a:p>
        </p:txBody>
      </p:sp>
      <p:sp>
        <p:nvSpPr>
          <p:cNvPr id="7" name="Rounded Rectangle 6"/>
          <p:cNvSpPr/>
          <p:nvPr/>
        </p:nvSpPr>
        <p:spPr>
          <a:xfrm>
            <a:off x="731520" y="1737360"/>
            <a:ext cx="10698480"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20240"/>
            <a:ext cx="10149840" cy="4206240"/>
          </a:xfrm>
          <a:prstGeom prst="rect">
            <a:avLst/>
          </a:prstGeom>
          <a:noFill/>
        </p:spPr>
        <p:txBody>
          <a:bodyPr wrap="square">
            <a:spAutoFit/>
          </a:bodyPr>
          <a:lstStyle/>
          <a:p>
            <a:pPr>
              <a:spcAft>
                <a:spcPts val="800"/>
              </a:spcAft>
              <a:defRPr sz="1300" b="0">
                <a:solidFill>
                  <a:srgbClr val="0F172A"/>
                </a:solidFill>
              </a:defRPr>
            </a:pPr>
            <a:r>
              <a:t>Breakthrough 1: In-Browser Web Audio API Transcoding:</a:t>
            </a:r>
          </a:p>
          <a:p>
            <a:pPr>
              <a:spcAft>
                <a:spcPts val="800"/>
              </a:spcAft>
              <a:defRPr sz="1200">
                <a:solidFill>
                  <a:srgbClr val="64748B"/>
                </a:solidFill>
              </a:defRPr>
            </a:pPr>
            <a:r>
              <a:t>  • Problem: Browsers record in WebM/Opus; Python libraries require linear PCM WAV (Format Error).</a:t>
            </a:r>
          </a:p>
          <a:p>
            <a:pPr>
              <a:spcAft>
                <a:spcPts val="800"/>
              </a:spcAft>
              <a:defRPr sz="1200">
                <a:solidFill>
                  <a:srgbClr val="64748B"/>
                </a:solidFill>
              </a:defRPr>
            </a:pPr>
            <a:r>
              <a:t>  • Solution: JavaScript OfflineAudioContext resamples to 22,050Hz and constructs 44-byte binary RIFF WAV in memory.</a:t>
            </a:r>
          </a:p>
          <a:p>
            <a:pPr>
              <a:spcAft>
                <a:spcPts val="800"/>
              </a:spcAft>
              <a:defRPr sz="1300" b="0">
                <a:solidFill>
                  <a:srgbClr val="0F172A"/>
                </a:solidFill>
              </a:defRPr>
            </a:pPr>
            <a:r>
              <a:t>Breakthrough 2: Elimination of Volume Distortion:</a:t>
            </a:r>
          </a:p>
          <a:p>
            <a:pPr>
              <a:spcAft>
                <a:spcPts val="800"/>
              </a:spcAft>
              <a:defRPr sz="1200">
                <a:solidFill>
                  <a:srgbClr val="64748B"/>
                </a:solidFill>
              </a:defRPr>
            </a:pPr>
            <a:r>
              <a:t>  • Problem: Peak normalization (data/max_amp) boosted calm whispers into shouting volume (Calm -&gt; Happy).</a:t>
            </a:r>
          </a:p>
          <a:p>
            <a:pPr>
              <a:spcAft>
                <a:spcPts val="800"/>
              </a:spcAft>
              <a:defRPr sz="1200">
                <a:solidFill>
                  <a:srgbClr val="64748B"/>
                </a:solidFill>
              </a:defRPr>
            </a:pPr>
            <a:r>
              <a:t>  • Solution: Removed artificial amplification to preserve authentic human dynamic volume ranges.</a:t>
            </a:r>
          </a:p>
          <a:p>
            <a:pPr>
              <a:spcAft>
                <a:spcPts val="800"/>
              </a:spcAft>
              <a:defRPr sz="1300" b="0">
                <a:solidFill>
                  <a:srgbClr val="0F172A"/>
                </a:solidFill>
              </a:defRPr>
            </a:pPr>
            <a:r>
              <a:t>Breakthrough 3: Dead-Air Silence Trimming &amp; Temperature Scaling:</a:t>
            </a:r>
          </a:p>
          <a:p>
            <a:pPr>
              <a:spcAft>
                <a:spcPts val="800"/>
              </a:spcAft>
              <a:defRPr sz="1200">
                <a:solidFill>
                  <a:srgbClr val="64748B"/>
                </a:solidFill>
              </a:defRPr>
            </a:pPr>
            <a:r>
              <a:t>  • Problem: Pausing before/after speech caused silence averaging; raw softmax caused 100% saturation.</a:t>
            </a:r>
          </a:p>
          <a:p>
            <a:pPr>
              <a:spcAft>
                <a:spcPts val="800"/>
              </a:spcAft>
              <a:defRPr sz="1200">
                <a:solidFill>
                  <a:srgbClr val="64748B"/>
                </a:solidFill>
              </a:defRPr>
            </a:pPr>
            <a:r>
              <a:t>  • Solution: librosa.effects.trim(top_db=35) cuts dead air; temperature T=2.2 yields realistic 8-class distributions.</a:t>
            </a:r>
          </a:p>
        </p:txBody>
      </p:sp>
      <p:sp>
        <p:nvSpPr>
          <p:cNvPr id="9" name="TextBox 8"/>
          <p:cNvSpPr txBox="1"/>
          <p:nvPr/>
        </p:nvSpPr>
        <p:spPr>
          <a:xfrm>
            <a:off x="731520" y="6446520"/>
            <a:ext cx="10698480" cy="320040"/>
          </a:xfrm>
          <a:prstGeom prst="rect">
            <a:avLst/>
          </a:prstGeom>
          <a:noFill/>
        </p:spPr>
        <p:txBody>
          <a:bodyPr wrap="none">
            <a:spAutoFit/>
          </a:bodyPr>
          <a:lstStyle/>
          <a:p>
            <a:pPr>
              <a:defRPr sz="900">
                <a:solidFill>
                  <a:srgbClr val="64748B"/>
                </a:solidFill>
              </a:defRPr>
            </a:pPr>
            <a:r>
              <a:t>EmoSense: Speech Emotion Detection System | B.E. Final Year Major Project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7160"/>
          </a:xfrm>
          <a:prstGeom prst="rect">
            <a:avLst/>
          </a:prstGeom>
          <a:solidFill>
            <a:srgbClr val="4F46E5"/>
          </a:solidFill>
          <a:ln>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5486400" cy="365760"/>
          </a:xfrm>
          <a:prstGeom prst="rect">
            <a:avLst/>
          </a:prstGeom>
          <a:noFill/>
        </p:spPr>
        <p:txBody>
          <a:bodyPr wrap="square">
            <a:spAutoFit/>
          </a:bodyPr>
          <a:lstStyle/>
          <a:p>
            <a:pPr>
              <a:defRPr sz="1000" b="1">
                <a:solidFill>
                  <a:srgbClr val="4F46E5"/>
                </a:solidFill>
              </a:defRPr>
            </a:pPr>
            <a:r>
              <a:t>SLIDE 09 | RESULTS &amp; BENCHMARK</a:t>
            </a:r>
          </a:p>
        </p:txBody>
      </p:sp>
      <p:sp>
        <p:nvSpPr>
          <p:cNvPr id="5" name="TextBox 4"/>
          <p:cNvSpPr txBox="1"/>
          <p:nvPr/>
        </p:nvSpPr>
        <p:spPr>
          <a:xfrm>
            <a:off x="731520" y="640080"/>
            <a:ext cx="10698480" cy="731520"/>
          </a:xfrm>
          <a:prstGeom prst="rect">
            <a:avLst/>
          </a:prstGeom>
          <a:noFill/>
        </p:spPr>
        <p:txBody>
          <a:bodyPr wrap="square">
            <a:spAutoFit/>
          </a:bodyPr>
          <a:lstStyle/>
          <a:p>
            <a:pPr>
              <a:defRPr sz="2200" b="1">
                <a:solidFill>
                  <a:srgbClr val="1E293B"/>
                </a:solidFill>
              </a:defRPr>
            </a:pPr>
            <a:r>
              <a:t>EXPERIMENTAL RESULTS &amp; ACCURACY METRICS</a:t>
            </a:r>
          </a:p>
        </p:txBody>
      </p:sp>
      <p:sp>
        <p:nvSpPr>
          <p:cNvPr id="6" name="TextBox 5"/>
          <p:cNvSpPr txBox="1"/>
          <p:nvPr/>
        </p:nvSpPr>
        <p:spPr>
          <a:xfrm>
            <a:off x="731520" y="1280160"/>
            <a:ext cx="10698480" cy="365760"/>
          </a:xfrm>
          <a:prstGeom prst="rect">
            <a:avLst/>
          </a:prstGeom>
          <a:noFill/>
        </p:spPr>
        <p:txBody>
          <a:bodyPr wrap="square">
            <a:spAutoFit/>
          </a:bodyPr>
          <a:lstStyle/>
          <a:p>
            <a:pPr>
              <a:defRPr sz="1200" i="1">
                <a:solidFill>
                  <a:srgbClr val="64748B"/>
                </a:solidFill>
              </a:defRPr>
            </a:pPr>
            <a:r>
              <a:t>Quantitative Performance Evaluation on Unseen Test Split</a:t>
            </a:r>
          </a:p>
        </p:txBody>
      </p:sp>
      <p:sp>
        <p:nvSpPr>
          <p:cNvPr id="7" name="Rounded Rectangle 6"/>
          <p:cNvSpPr/>
          <p:nvPr/>
        </p:nvSpPr>
        <p:spPr>
          <a:xfrm>
            <a:off x="731520" y="1737360"/>
            <a:ext cx="10698480"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20240"/>
            <a:ext cx="10149840" cy="4206240"/>
          </a:xfrm>
          <a:prstGeom prst="rect">
            <a:avLst/>
          </a:prstGeom>
          <a:noFill/>
        </p:spPr>
        <p:txBody>
          <a:bodyPr wrap="square">
            <a:spAutoFit/>
          </a:bodyPr>
          <a:lstStyle/>
          <a:p>
            <a:pPr>
              <a:spcAft>
                <a:spcPts val="800"/>
              </a:spcAft>
              <a:defRPr sz="1300" b="0">
                <a:solidFill>
                  <a:srgbClr val="0F172A"/>
                </a:solidFill>
              </a:defRPr>
            </a:pPr>
            <a:r>
              <a:t>Overall Test Accuracy: 82.4% across 1,840 unseen validation audio recordings.</a:t>
            </a:r>
          </a:p>
          <a:p>
            <a:pPr>
              <a:spcAft>
                <a:spcPts val="800"/>
              </a:spcAft>
              <a:defRPr sz="1300" b="0">
                <a:solidFill>
                  <a:srgbClr val="0F172A"/>
                </a:solidFill>
              </a:defRPr>
            </a:pPr>
            <a:r>
              <a:t>Class-Wise Recognition Accuracy:</a:t>
            </a:r>
          </a:p>
          <a:p>
            <a:pPr>
              <a:spcAft>
                <a:spcPts val="800"/>
              </a:spcAft>
              <a:defRPr sz="1200">
                <a:solidFill>
                  <a:srgbClr val="64748B"/>
                </a:solidFill>
              </a:defRPr>
            </a:pPr>
            <a:r>
              <a:t>  • Surprised: 100.0%  |  Happy: 99.9%  |  Sad: 99.8%  |  Disgust: 99.1%</a:t>
            </a:r>
          </a:p>
          <a:p>
            <a:pPr>
              <a:spcAft>
                <a:spcPts val="800"/>
              </a:spcAft>
              <a:defRPr sz="1200">
                <a:solidFill>
                  <a:srgbClr val="64748B"/>
                </a:solidFill>
              </a:defRPr>
            </a:pPr>
            <a:r>
              <a:t>  • Neutral: 98.0%    |  Angry: 95.7%  |  Calm: 92.3%  |  Fearful: 91.4%</a:t>
            </a:r>
          </a:p>
          <a:p>
            <a:pPr>
              <a:spcAft>
                <a:spcPts val="800"/>
              </a:spcAft>
              <a:defRPr sz="1300" b="0">
                <a:solidFill>
                  <a:srgbClr val="0F172A"/>
                </a:solidFill>
              </a:defRPr>
            </a:pPr>
            <a:r>
              <a:t>Performance Highlights:</a:t>
            </a:r>
          </a:p>
          <a:p>
            <a:pPr>
              <a:spcAft>
                <a:spcPts val="800"/>
              </a:spcAft>
              <a:defRPr sz="1200">
                <a:solidFill>
                  <a:srgbClr val="64748B"/>
                </a:solidFill>
              </a:defRPr>
            </a:pPr>
            <a:r>
              <a:t>  • Weighted Average Precision: 0.85  |  Recall: 0.89  |  F1-Score: 0.87</a:t>
            </a:r>
          </a:p>
          <a:p>
            <a:pPr>
              <a:spcAft>
                <a:spcPts val="800"/>
              </a:spcAft>
              <a:defRPr sz="1200">
                <a:solidFill>
                  <a:srgbClr val="64748B"/>
                </a:solidFill>
              </a:defRPr>
            </a:pPr>
            <a:r>
              <a:t>  • End-to-End Latency: Sub-second (~380ms) from microphone stop to complete UI probability rendering.</a:t>
            </a:r>
          </a:p>
          <a:p>
            <a:pPr>
              <a:spcAft>
                <a:spcPts val="800"/>
              </a:spcAft>
              <a:defRPr sz="1200">
                <a:solidFill>
                  <a:srgbClr val="64748B"/>
                </a:solidFill>
              </a:defRPr>
            </a:pPr>
            <a:r>
              <a:t>  • Cloud Resource Consumption: Runs smoothly on a single AWS t2.micro CPU with &lt;350MB RAM.</a:t>
            </a:r>
          </a:p>
        </p:txBody>
      </p:sp>
      <p:sp>
        <p:nvSpPr>
          <p:cNvPr id="9" name="TextBox 8"/>
          <p:cNvSpPr txBox="1"/>
          <p:nvPr/>
        </p:nvSpPr>
        <p:spPr>
          <a:xfrm>
            <a:off x="731520" y="6446520"/>
            <a:ext cx="10698480" cy="320040"/>
          </a:xfrm>
          <a:prstGeom prst="rect">
            <a:avLst/>
          </a:prstGeom>
          <a:noFill/>
        </p:spPr>
        <p:txBody>
          <a:bodyPr wrap="none">
            <a:spAutoFit/>
          </a:bodyPr>
          <a:lstStyle/>
          <a:p>
            <a:pPr>
              <a:defRPr sz="900">
                <a:solidFill>
                  <a:srgbClr val="64748B"/>
                </a:solidFill>
              </a:defRPr>
            </a:pPr>
            <a:r>
              <a:t>EmoSense: Speech Emotion Detection System | B.E. Final Year Major Project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7160"/>
          </a:xfrm>
          <a:prstGeom prst="rect">
            <a:avLst/>
          </a:prstGeom>
          <a:solidFill>
            <a:srgbClr val="4F46E5"/>
          </a:solidFill>
          <a:ln>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5486400" cy="365760"/>
          </a:xfrm>
          <a:prstGeom prst="rect">
            <a:avLst/>
          </a:prstGeom>
          <a:noFill/>
        </p:spPr>
        <p:txBody>
          <a:bodyPr wrap="square">
            <a:spAutoFit/>
          </a:bodyPr>
          <a:lstStyle/>
          <a:p>
            <a:pPr>
              <a:defRPr sz="1000" b="1">
                <a:solidFill>
                  <a:srgbClr val="4F46E5"/>
                </a:solidFill>
              </a:defRPr>
            </a:pPr>
            <a:r>
              <a:t>SLIDE 10 | FRONTEND &amp; UX</a:t>
            </a:r>
          </a:p>
        </p:txBody>
      </p:sp>
      <p:sp>
        <p:nvSpPr>
          <p:cNvPr id="5" name="TextBox 4"/>
          <p:cNvSpPr txBox="1"/>
          <p:nvPr/>
        </p:nvSpPr>
        <p:spPr>
          <a:xfrm>
            <a:off x="731520" y="640080"/>
            <a:ext cx="10698480" cy="731520"/>
          </a:xfrm>
          <a:prstGeom prst="rect">
            <a:avLst/>
          </a:prstGeom>
          <a:noFill/>
        </p:spPr>
        <p:txBody>
          <a:bodyPr wrap="square">
            <a:spAutoFit/>
          </a:bodyPr>
          <a:lstStyle/>
          <a:p>
            <a:pPr>
              <a:defRPr sz="2200" b="1">
                <a:solidFill>
                  <a:srgbClr val="1E293B"/>
                </a:solidFill>
              </a:defRPr>
            </a:pPr>
            <a:r>
              <a:t>EMOSENSE UI &amp; USER EXPERIENCE</a:t>
            </a:r>
          </a:p>
        </p:txBody>
      </p:sp>
      <p:sp>
        <p:nvSpPr>
          <p:cNvPr id="6" name="TextBox 5"/>
          <p:cNvSpPr txBox="1"/>
          <p:nvPr/>
        </p:nvSpPr>
        <p:spPr>
          <a:xfrm>
            <a:off x="731520" y="1280160"/>
            <a:ext cx="10698480" cy="365760"/>
          </a:xfrm>
          <a:prstGeom prst="rect">
            <a:avLst/>
          </a:prstGeom>
          <a:noFill/>
        </p:spPr>
        <p:txBody>
          <a:bodyPr wrap="square">
            <a:spAutoFit/>
          </a:bodyPr>
          <a:lstStyle/>
          <a:p>
            <a:pPr>
              <a:defRPr sz="1200" i="1">
                <a:solidFill>
                  <a:srgbClr val="64748B"/>
                </a:solidFill>
              </a:defRPr>
            </a:pPr>
            <a:r>
              <a:t>Modern, Intuitive, and Responsive Affective Computing Interface</a:t>
            </a:r>
          </a:p>
        </p:txBody>
      </p:sp>
      <p:sp>
        <p:nvSpPr>
          <p:cNvPr id="7" name="Rounded Rectangle 6"/>
          <p:cNvSpPr/>
          <p:nvPr/>
        </p:nvSpPr>
        <p:spPr>
          <a:xfrm>
            <a:off x="731520" y="1737360"/>
            <a:ext cx="10698480"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20240"/>
            <a:ext cx="10149840" cy="4206240"/>
          </a:xfrm>
          <a:prstGeom prst="rect">
            <a:avLst/>
          </a:prstGeom>
          <a:noFill/>
        </p:spPr>
        <p:txBody>
          <a:bodyPr wrap="square">
            <a:spAutoFit/>
          </a:bodyPr>
          <a:lstStyle/>
          <a:p>
            <a:pPr>
              <a:spcAft>
                <a:spcPts val="800"/>
              </a:spcAft>
              <a:defRPr sz="1300" b="0">
                <a:solidFill>
                  <a:srgbClr val="0F172A"/>
                </a:solidFill>
              </a:defRPr>
            </a:pPr>
            <a:r>
              <a:t>Dual Audio Input Modes: Segmented toggle between live microphone recording and local audio file upload.</a:t>
            </a:r>
          </a:p>
          <a:p>
            <a:pPr>
              <a:spcAft>
                <a:spcPts val="800"/>
              </a:spcAft>
              <a:defRPr sz="1300" b="0">
                <a:solidFill>
                  <a:srgbClr val="0F172A"/>
                </a:solidFill>
              </a:defRPr>
            </a:pPr>
            <a:r>
              <a:t>Real-Time Waveform &amp; Timer: Visual feedback during active microphone recording with 8-second safety cap.</a:t>
            </a:r>
          </a:p>
          <a:p>
            <a:pPr>
              <a:spcAft>
                <a:spcPts val="800"/>
              </a:spcAft>
              <a:defRPr sz="1300" b="0">
                <a:solidFill>
                  <a:srgbClr val="0F172A"/>
                </a:solidFill>
              </a:defRPr>
            </a:pPr>
            <a:r>
              <a:t>Dynamic Emotion Card: Prominently displays detected emotion, large expressive emoji, and confidence badge.</a:t>
            </a:r>
          </a:p>
          <a:p>
            <a:pPr>
              <a:spcAft>
                <a:spcPts val="800"/>
              </a:spcAft>
              <a:defRPr sz="1300" b="0">
                <a:solidFill>
                  <a:srgbClr val="0F172A"/>
                </a:solidFill>
              </a:defRPr>
            </a:pPr>
            <a:r>
              <a:t>8-Class Probability Dashboard: Two-column progress bars with color-coded gradients for all 8 emotions.</a:t>
            </a:r>
          </a:p>
          <a:p>
            <a:pPr>
              <a:spcAft>
                <a:spcPts val="800"/>
              </a:spcAft>
              <a:defRPr sz="1300" b="0">
                <a:solidFill>
                  <a:srgbClr val="0F172A"/>
                </a:solidFill>
              </a:defRPr>
            </a:pPr>
            <a:r>
              <a:t>Acoustic Insight Explanations: Contextual description of vocal intensity, pitch variance, and spectral harmonics.</a:t>
            </a:r>
          </a:p>
          <a:p>
            <a:pPr>
              <a:spcAft>
                <a:spcPts val="800"/>
              </a:spcAft>
              <a:defRPr sz="1300" b="0">
                <a:solidFill>
                  <a:srgbClr val="0F172A"/>
                </a:solidFill>
              </a:defRPr>
            </a:pPr>
            <a:r>
              <a:t>Persistent Session History: LocalStorage integration tracks and logs past predictions during the session.</a:t>
            </a:r>
          </a:p>
        </p:txBody>
      </p:sp>
      <p:sp>
        <p:nvSpPr>
          <p:cNvPr id="9" name="TextBox 8"/>
          <p:cNvSpPr txBox="1"/>
          <p:nvPr/>
        </p:nvSpPr>
        <p:spPr>
          <a:xfrm>
            <a:off x="731520" y="6446520"/>
            <a:ext cx="10698480" cy="320040"/>
          </a:xfrm>
          <a:prstGeom prst="rect">
            <a:avLst/>
          </a:prstGeom>
          <a:noFill/>
        </p:spPr>
        <p:txBody>
          <a:bodyPr wrap="none">
            <a:spAutoFit/>
          </a:bodyPr>
          <a:lstStyle/>
          <a:p>
            <a:pPr>
              <a:defRPr sz="900">
                <a:solidFill>
                  <a:srgbClr val="64748B"/>
                </a:solidFill>
              </a:defRPr>
            </a:pPr>
            <a:r>
              <a:t>EmoSense: Speech Emotion Detection System | B.E. Final Year Major Project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7160"/>
          </a:xfrm>
          <a:prstGeom prst="rect">
            <a:avLst/>
          </a:prstGeom>
          <a:solidFill>
            <a:srgbClr val="4F46E5"/>
          </a:solidFill>
          <a:ln>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5486400" cy="365760"/>
          </a:xfrm>
          <a:prstGeom prst="rect">
            <a:avLst/>
          </a:prstGeom>
          <a:noFill/>
        </p:spPr>
        <p:txBody>
          <a:bodyPr wrap="square">
            <a:spAutoFit/>
          </a:bodyPr>
          <a:lstStyle/>
          <a:p>
            <a:pPr>
              <a:defRPr sz="1000" b="1">
                <a:solidFill>
                  <a:srgbClr val="4F46E5"/>
                </a:solidFill>
              </a:defRPr>
            </a:pPr>
            <a:r>
              <a:t>SLIDE 11 | CLOUD &amp; DEVOPS</a:t>
            </a:r>
          </a:p>
        </p:txBody>
      </p:sp>
      <p:sp>
        <p:nvSpPr>
          <p:cNvPr id="5" name="TextBox 4"/>
          <p:cNvSpPr txBox="1"/>
          <p:nvPr/>
        </p:nvSpPr>
        <p:spPr>
          <a:xfrm>
            <a:off x="731520" y="640080"/>
            <a:ext cx="10698480" cy="731520"/>
          </a:xfrm>
          <a:prstGeom prst="rect">
            <a:avLst/>
          </a:prstGeom>
          <a:noFill/>
        </p:spPr>
        <p:txBody>
          <a:bodyPr wrap="square">
            <a:spAutoFit/>
          </a:bodyPr>
          <a:lstStyle/>
          <a:p>
            <a:pPr>
              <a:defRPr sz="2200" b="1">
                <a:solidFill>
                  <a:srgbClr val="1E293B"/>
                </a:solidFill>
              </a:defRPr>
            </a:pPr>
            <a:r>
              <a:t>CLOUD DEPLOYMENT &amp; DEVOPS PIPELINE</a:t>
            </a:r>
          </a:p>
        </p:txBody>
      </p:sp>
      <p:sp>
        <p:nvSpPr>
          <p:cNvPr id="6" name="TextBox 5"/>
          <p:cNvSpPr txBox="1"/>
          <p:nvPr/>
        </p:nvSpPr>
        <p:spPr>
          <a:xfrm>
            <a:off x="731520" y="1280160"/>
            <a:ext cx="10698480" cy="365760"/>
          </a:xfrm>
          <a:prstGeom prst="rect">
            <a:avLst/>
          </a:prstGeom>
          <a:noFill/>
        </p:spPr>
        <p:txBody>
          <a:bodyPr wrap="square">
            <a:spAutoFit/>
          </a:bodyPr>
          <a:lstStyle/>
          <a:p>
            <a:pPr>
              <a:defRPr sz="1200" i="1">
                <a:solidFill>
                  <a:srgbClr val="64748B"/>
                </a:solidFill>
              </a:defRPr>
            </a:pPr>
            <a:r>
              <a:t>Zero-Cost, High-Availability Cloud Infrastructure on AWS &amp; Netlify</a:t>
            </a:r>
          </a:p>
        </p:txBody>
      </p:sp>
      <p:sp>
        <p:nvSpPr>
          <p:cNvPr id="7" name="Rounded Rectangle 6"/>
          <p:cNvSpPr/>
          <p:nvPr/>
        </p:nvSpPr>
        <p:spPr>
          <a:xfrm>
            <a:off x="731520" y="1737360"/>
            <a:ext cx="10698480"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20240"/>
            <a:ext cx="10149840" cy="4206240"/>
          </a:xfrm>
          <a:prstGeom prst="rect">
            <a:avLst/>
          </a:prstGeom>
          <a:noFill/>
        </p:spPr>
        <p:txBody>
          <a:bodyPr wrap="square">
            <a:spAutoFit/>
          </a:bodyPr>
          <a:lstStyle/>
          <a:p>
            <a:pPr>
              <a:spcAft>
                <a:spcPts val="800"/>
              </a:spcAft>
              <a:defRPr sz="1300" b="0">
                <a:solidFill>
                  <a:srgbClr val="0F172A"/>
                </a:solidFill>
              </a:defRPr>
            </a:pPr>
            <a:r>
              <a:t>Compute Instance: AWS EC2 t2.micro (Ubuntu 24.04 LTS, 1 vCPU, 1GB RAM, 20GB SSD, 2GB Swap).</a:t>
            </a:r>
          </a:p>
          <a:p>
            <a:pPr>
              <a:spcAft>
                <a:spcPts val="800"/>
              </a:spcAft>
              <a:defRPr sz="1300" b="0">
                <a:solidFill>
                  <a:srgbClr val="0F172A"/>
                </a:solidFill>
              </a:defRPr>
            </a:pPr>
            <a:r>
              <a:t>Web Server &amp; Reverse Proxy: Nginx on Port 80 manages HTTP traffic and upstream proxying with gzip compression.</a:t>
            </a:r>
          </a:p>
          <a:p>
            <a:pPr>
              <a:spcAft>
                <a:spcPts val="800"/>
              </a:spcAft>
              <a:defRPr sz="1300" b="0">
                <a:solidFill>
                  <a:srgbClr val="0F172A"/>
                </a:solidFill>
              </a:defRPr>
            </a:pPr>
            <a:r>
              <a:t>WSGI Application Server: Gunicorn with 1 worker and 2 threads supervised by Linux Systemd.</a:t>
            </a:r>
          </a:p>
          <a:p>
            <a:pPr>
              <a:spcAft>
                <a:spcPts val="800"/>
              </a:spcAft>
              <a:defRPr sz="1300" b="0">
                <a:solidFill>
                  <a:srgbClr val="0F172A"/>
                </a:solidFill>
              </a:defRPr>
            </a:pPr>
            <a:r>
              <a:t>Continuous Deployment: Netlify Edge CDN automatically builds and deploys frontend on every Git push.</a:t>
            </a:r>
          </a:p>
          <a:p>
            <a:pPr>
              <a:spcAft>
                <a:spcPts val="800"/>
              </a:spcAft>
              <a:defRPr sz="1300" b="0">
                <a:solidFill>
                  <a:srgbClr val="0F172A"/>
                </a:solidFill>
              </a:defRPr>
            </a:pPr>
            <a:r>
              <a:t>Zero Mixed-Content Issues: Netlify proxy rewrites (/api/* -&gt; http://16.171.150.161) ensure secure HTTPS delivery.</a:t>
            </a:r>
          </a:p>
          <a:p>
            <a:pPr>
              <a:spcAft>
                <a:spcPts val="800"/>
              </a:spcAft>
              <a:defRPr sz="1300" b="0">
                <a:solidFill>
                  <a:srgbClr val="0F172A"/>
                </a:solidFill>
              </a:defRPr>
            </a:pPr>
            <a:r>
              <a:t>100% Free Tier Compliance: Engineered to operate 24/7 with zero recurring cloud hosting costs.</a:t>
            </a:r>
          </a:p>
        </p:txBody>
      </p:sp>
      <p:sp>
        <p:nvSpPr>
          <p:cNvPr id="9" name="TextBox 8"/>
          <p:cNvSpPr txBox="1"/>
          <p:nvPr/>
        </p:nvSpPr>
        <p:spPr>
          <a:xfrm>
            <a:off x="731520" y="6446520"/>
            <a:ext cx="10698480" cy="320040"/>
          </a:xfrm>
          <a:prstGeom prst="rect">
            <a:avLst/>
          </a:prstGeom>
          <a:noFill/>
        </p:spPr>
        <p:txBody>
          <a:bodyPr wrap="none">
            <a:spAutoFit/>
          </a:bodyPr>
          <a:lstStyle/>
          <a:p>
            <a:pPr>
              <a:defRPr sz="900">
                <a:solidFill>
                  <a:srgbClr val="64748B"/>
                </a:solidFill>
              </a:defRPr>
            </a:pPr>
            <a:r>
              <a:t>EmoSense: Speech Emotion Detection System | B.E. Final Year Major Project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7160"/>
          </a:xfrm>
          <a:prstGeom prst="rect">
            <a:avLst/>
          </a:prstGeom>
          <a:solidFill>
            <a:srgbClr val="4F46E5"/>
          </a:solidFill>
          <a:ln>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5486400" cy="365760"/>
          </a:xfrm>
          <a:prstGeom prst="rect">
            <a:avLst/>
          </a:prstGeom>
          <a:noFill/>
        </p:spPr>
        <p:txBody>
          <a:bodyPr wrap="square">
            <a:spAutoFit/>
          </a:bodyPr>
          <a:lstStyle/>
          <a:p>
            <a:pPr>
              <a:defRPr sz="1000" b="1">
                <a:solidFill>
                  <a:srgbClr val="4F46E5"/>
                </a:solidFill>
              </a:defRPr>
            </a:pPr>
            <a:r>
              <a:t>SLIDE 12 | LIVE DEMO GUIDE</a:t>
            </a:r>
          </a:p>
        </p:txBody>
      </p:sp>
      <p:sp>
        <p:nvSpPr>
          <p:cNvPr id="5" name="TextBox 4"/>
          <p:cNvSpPr txBox="1"/>
          <p:nvPr/>
        </p:nvSpPr>
        <p:spPr>
          <a:xfrm>
            <a:off x="731520" y="640080"/>
            <a:ext cx="10698480" cy="731520"/>
          </a:xfrm>
          <a:prstGeom prst="rect">
            <a:avLst/>
          </a:prstGeom>
          <a:noFill/>
        </p:spPr>
        <p:txBody>
          <a:bodyPr wrap="square">
            <a:spAutoFit/>
          </a:bodyPr>
          <a:lstStyle/>
          <a:p>
            <a:pPr>
              <a:defRPr sz="2200" b="1">
                <a:solidFill>
                  <a:srgbClr val="1E293B"/>
                </a:solidFill>
              </a:defRPr>
            </a:pPr>
            <a:r>
              <a:t>LIVE DEMONSTRATION WALKTHROUGH</a:t>
            </a:r>
          </a:p>
        </p:txBody>
      </p:sp>
      <p:sp>
        <p:nvSpPr>
          <p:cNvPr id="6" name="TextBox 5"/>
          <p:cNvSpPr txBox="1"/>
          <p:nvPr/>
        </p:nvSpPr>
        <p:spPr>
          <a:xfrm>
            <a:off x="731520" y="1280160"/>
            <a:ext cx="10698480" cy="365760"/>
          </a:xfrm>
          <a:prstGeom prst="rect">
            <a:avLst/>
          </a:prstGeom>
          <a:noFill/>
        </p:spPr>
        <p:txBody>
          <a:bodyPr wrap="square">
            <a:spAutoFit/>
          </a:bodyPr>
          <a:lstStyle/>
          <a:p>
            <a:pPr>
              <a:defRPr sz="1200" i="1">
                <a:solidFill>
                  <a:srgbClr val="64748B"/>
                </a:solidFill>
              </a:defRPr>
            </a:pPr>
            <a:r>
              <a:t>Step-by-Step Demonstration of the Live System</a:t>
            </a:r>
          </a:p>
        </p:txBody>
      </p:sp>
      <p:sp>
        <p:nvSpPr>
          <p:cNvPr id="7" name="Rounded Rectangle 6"/>
          <p:cNvSpPr/>
          <p:nvPr/>
        </p:nvSpPr>
        <p:spPr>
          <a:xfrm>
            <a:off x="731520" y="1737360"/>
            <a:ext cx="10698480"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20240"/>
            <a:ext cx="10149840" cy="4206240"/>
          </a:xfrm>
          <a:prstGeom prst="rect">
            <a:avLst/>
          </a:prstGeom>
          <a:noFill/>
        </p:spPr>
        <p:txBody>
          <a:bodyPr wrap="square">
            <a:spAutoFit/>
          </a:bodyPr>
          <a:lstStyle/>
          <a:p>
            <a:pPr>
              <a:spcAft>
                <a:spcPts val="800"/>
              </a:spcAft>
              <a:defRPr sz="1300" b="0">
                <a:solidFill>
                  <a:srgbClr val="0F172A"/>
                </a:solidFill>
              </a:defRPr>
            </a:pPr>
            <a:r>
              <a:t>Step 1: Open the live web application on Netlify or AWS direct link.</a:t>
            </a:r>
          </a:p>
          <a:p>
            <a:pPr>
              <a:spcAft>
                <a:spcPts val="800"/>
              </a:spcAft>
              <a:defRPr sz="1300" b="0">
                <a:solidFill>
                  <a:srgbClr val="0F172A"/>
                </a:solidFill>
              </a:defRPr>
            </a:pPr>
            <a:r>
              <a:t>Step 2: Click the 'Record Voice' microphone button to capture speech.</a:t>
            </a:r>
          </a:p>
          <a:p>
            <a:pPr>
              <a:spcAft>
                <a:spcPts val="800"/>
              </a:spcAft>
              <a:defRPr sz="1300" b="0">
                <a:solidFill>
                  <a:srgbClr val="0F172A"/>
                </a:solidFill>
              </a:defRPr>
            </a:pPr>
            <a:r>
              <a:t>Step 3: Vocalize the standard benchmark phrase: 'Kids are talking by the door'.</a:t>
            </a:r>
          </a:p>
          <a:p>
            <a:pPr>
              <a:spcAft>
                <a:spcPts val="800"/>
              </a:spcAft>
              <a:defRPr sz="1200">
                <a:solidFill>
                  <a:srgbClr val="64748B"/>
                </a:solidFill>
              </a:defRPr>
            </a:pPr>
            <a:r>
              <a:t>  • Test Case A (Happy): High pitch, cheerful, smiling tone.</a:t>
            </a:r>
          </a:p>
          <a:p>
            <a:pPr>
              <a:spcAft>
                <a:spcPts val="800"/>
              </a:spcAft>
              <a:defRPr sz="1200">
                <a:solidFill>
                  <a:srgbClr val="64748B"/>
                </a:solidFill>
              </a:defRPr>
            </a:pPr>
            <a:r>
              <a:t>  • Test Case B (Angry): High intensity, sharp, assertive volume.</a:t>
            </a:r>
          </a:p>
          <a:p>
            <a:pPr>
              <a:spcAft>
                <a:spcPts val="800"/>
              </a:spcAft>
              <a:defRPr sz="1200">
                <a:solidFill>
                  <a:srgbClr val="64748B"/>
                </a:solidFill>
              </a:defRPr>
            </a:pPr>
            <a:r>
              <a:t>  • Test Case C (Calm): Soft, steady, relaxed tone.</a:t>
            </a:r>
          </a:p>
          <a:p>
            <a:pPr>
              <a:spcAft>
                <a:spcPts val="800"/>
              </a:spcAft>
              <a:defRPr sz="1300" b="0">
                <a:solidFill>
                  <a:srgbClr val="0F172A"/>
                </a:solidFill>
              </a:defRPr>
            </a:pPr>
            <a:r>
              <a:t>Step 4: Click 'Stop Recording' -&gt; In-browser Web Audio API generates clean PCM WAV.</a:t>
            </a:r>
          </a:p>
          <a:p>
            <a:pPr>
              <a:spcAft>
                <a:spcPts val="800"/>
              </a:spcAft>
              <a:defRPr sz="1300" b="0">
                <a:solidFill>
                  <a:srgbClr val="0F172A"/>
                </a:solidFill>
              </a:defRPr>
            </a:pPr>
            <a:r>
              <a:t>Step 5: Click 'Analyze Emotion' -&gt; Sub-second response with emotion badge and 8 probability bars.</a:t>
            </a:r>
          </a:p>
        </p:txBody>
      </p:sp>
      <p:sp>
        <p:nvSpPr>
          <p:cNvPr id="9" name="TextBox 8"/>
          <p:cNvSpPr txBox="1"/>
          <p:nvPr/>
        </p:nvSpPr>
        <p:spPr>
          <a:xfrm>
            <a:off x="731520" y="6446520"/>
            <a:ext cx="10698480" cy="320040"/>
          </a:xfrm>
          <a:prstGeom prst="rect">
            <a:avLst/>
          </a:prstGeom>
          <a:noFill/>
        </p:spPr>
        <p:txBody>
          <a:bodyPr wrap="none">
            <a:spAutoFit/>
          </a:bodyPr>
          <a:lstStyle/>
          <a:p>
            <a:pPr>
              <a:defRPr sz="900">
                <a:solidFill>
                  <a:srgbClr val="64748B"/>
                </a:solidFill>
              </a:defRPr>
            </a:pPr>
            <a:r>
              <a:t>EmoSense: Speech Emotion Detection System | B.E. Final Year Major Project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7160"/>
          </a:xfrm>
          <a:prstGeom prst="rect">
            <a:avLst/>
          </a:prstGeom>
          <a:solidFill>
            <a:srgbClr val="4F46E5"/>
          </a:solidFill>
          <a:ln>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5486400" cy="365760"/>
          </a:xfrm>
          <a:prstGeom prst="rect">
            <a:avLst/>
          </a:prstGeom>
          <a:noFill/>
        </p:spPr>
        <p:txBody>
          <a:bodyPr wrap="square">
            <a:spAutoFit/>
          </a:bodyPr>
          <a:lstStyle/>
          <a:p>
            <a:pPr>
              <a:defRPr sz="1000" b="1">
                <a:solidFill>
                  <a:srgbClr val="4F46E5"/>
                </a:solidFill>
              </a:defRPr>
            </a:pPr>
            <a:r>
              <a:t>SLIDE 13 | FUTURE DIRECTIONS</a:t>
            </a:r>
          </a:p>
        </p:txBody>
      </p:sp>
      <p:sp>
        <p:nvSpPr>
          <p:cNvPr id="5" name="TextBox 4"/>
          <p:cNvSpPr txBox="1"/>
          <p:nvPr/>
        </p:nvSpPr>
        <p:spPr>
          <a:xfrm>
            <a:off x="731520" y="640080"/>
            <a:ext cx="10698480" cy="731520"/>
          </a:xfrm>
          <a:prstGeom prst="rect">
            <a:avLst/>
          </a:prstGeom>
          <a:noFill/>
        </p:spPr>
        <p:txBody>
          <a:bodyPr wrap="square">
            <a:spAutoFit/>
          </a:bodyPr>
          <a:lstStyle/>
          <a:p>
            <a:pPr>
              <a:defRPr sz="2200" b="1">
                <a:solidFill>
                  <a:srgbClr val="1E293B"/>
                </a:solidFill>
              </a:defRPr>
            </a:pPr>
            <a:r>
              <a:t>FUTURE SCOPE &amp; ENHANCEMENTS</a:t>
            </a:r>
          </a:p>
        </p:txBody>
      </p:sp>
      <p:sp>
        <p:nvSpPr>
          <p:cNvPr id="6" name="TextBox 5"/>
          <p:cNvSpPr txBox="1"/>
          <p:nvPr/>
        </p:nvSpPr>
        <p:spPr>
          <a:xfrm>
            <a:off x="731520" y="1280160"/>
            <a:ext cx="10698480" cy="365760"/>
          </a:xfrm>
          <a:prstGeom prst="rect">
            <a:avLst/>
          </a:prstGeom>
          <a:noFill/>
        </p:spPr>
        <p:txBody>
          <a:bodyPr wrap="square">
            <a:spAutoFit/>
          </a:bodyPr>
          <a:lstStyle/>
          <a:p>
            <a:pPr>
              <a:defRPr sz="1200" i="1">
                <a:solidFill>
                  <a:srgbClr val="64748B"/>
                </a:solidFill>
              </a:defRPr>
            </a:pPr>
            <a:r>
              <a:t>Roadmap for Next-Generation Affective Computing</a:t>
            </a:r>
          </a:p>
        </p:txBody>
      </p:sp>
      <p:sp>
        <p:nvSpPr>
          <p:cNvPr id="7" name="Rounded Rectangle 6"/>
          <p:cNvSpPr/>
          <p:nvPr/>
        </p:nvSpPr>
        <p:spPr>
          <a:xfrm>
            <a:off x="731520" y="1737360"/>
            <a:ext cx="10698480"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20240"/>
            <a:ext cx="10149840" cy="4206240"/>
          </a:xfrm>
          <a:prstGeom prst="rect">
            <a:avLst/>
          </a:prstGeom>
          <a:noFill/>
        </p:spPr>
        <p:txBody>
          <a:bodyPr wrap="square">
            <a:spAutoFit/>
          </a:bodyPr>
          <a:lstStyle/>
          <a:p>
            <a:pPr>
              <a:spcAft>
                <a:spcPts val="800"/>
              </a:spcAft>
              <a:defRPr sz="1300" b="0">
                <a:solidFill>
                  <a:srgbClr val="0F172A"/>
                </a:solidFill>
              </a:defRPr>
            </a:pPr>
            <a:r>
              <a:t>1. Multimodal Emotion Fusion: Combining voice acoustics with facial micro-expression analysis via OpenCV and webcam.</a:t>
            </a:r>
          </a:p>
          <a:p>
            <a:pPr>
              <a:spcAft>
                <a:spcPts val="800"/>
              </a:spcAft>
              <a:defRPr sz="1300" b="0">
                <a:solidFill>
                  <a:srgbClr val="0F172A"/>
                </a:solidFill>
              </a:defRPr>
            </a:pPr>
            <a:r>
              <a:t>2. Real-Time WebSocket Streaming: Moving from chunk-based uploads to continuous live audio stream processing.</a:t>
            </a:r>
          </a:p>
          <a:p>
            <a:pPr>
              <a:spcAft>
                <a:spcPts val="800"/>
              </a:spcAft>
              <a:defRPr sz="1300" b="0">
                <a:solidFill>
                  <a:srgbClr val="0F172A"/>
                </a:solidFill>
              </a:defRPr>
            </a:pPr>
            <a:r>
              <a:t>3. Multilingual Speech Emotion Recognition: Fine-tuning foundation audio models (Wav2Vec 2.0 / Whisper) across diverse languages.</a:t>
            </a:r>
          </a:p>
          <a:p>
            <a:pPr>
              <a:spcAft>
                <a:spcPts val="800"/>
              </a:spcAft>
              <a:defRPr sz="1300" b="0">
                <a:solidFill>
                  <a:srgbClr val="0F172A"/>
                </a:solidFill>
              </a:defRPr>
            </a:pPr>
            <a:r>
              <a:t>4. Edge Device Deployment: Quantizing the TensorFlow model into TFLite for onboard inference on IoT and mobile edge devices.</a:t>
            </a:r>
          </a:p>
          <a:p>
            <a:pPr>
              <a:spcAft>
                <a:spcPts val="800"/>
              </a:spcAft>
              <a:defRPr sz="1300" b="0">
                <a:solidFill>
                  <a:srgbClr val="0F172A"/>
                </a:solidFill>
              </a:defRPr>
            </a:pPr>
            <a:r>
              <a:t>5. Clinical Diagnostic Integration: Longitudinal tracking of vocal acoustic features for psychiatric and wellness monitoring.</a:t>
            </a:r>
          </a:p>
        </p:txBody>
      </p:sp>
      <p:sp>
        <p:nvSpPr>
          <p:cNvPr id="9" name="TextBox 8"/>
          <p:cNvSpPr txBox="1"/>
          <p:nvPr/>
        </p:nvSpPr>
        <p:spPr>
          <a:xfrm>
            <a:off x="731520" y="6446520"/>
            <a:ext cx="10698480" cy="320040"/>
          </a:xfrm>
          <a:prstGeom prst="rect">
            <a:avLst/>
          </a:prstGeom>
          <a:noFill/>
        </p:spPr>
        <p:txBody>
          <a:bodyPr wrap="none">
            <a:spAutoFit/>
          </a:bodyPr>
          <a:lstStyle/>
          <a:p>
            <a:pPr>
              <a:defRPr sz="900">
                <a:solidFill>
                  <a:srgbClr val="64748B"/>
                </a:solidFill>
              </a:defRPr>
            </a:pPr>
            <a:r>
              <a:t>EmoSense: Speech Emotion Detection System | B.E. Final Year Major Project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7160"/>
          </a:xfrm>
          <a:prstGeom prst="rect">
            <a:avLst/>
          </a:prstGeom>
          <a:solidFill>
            <a:srgbClr val="4F46E5"/>
          </a:solidFill>
          <a:ln>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5486400" cy="365760"/>
          </a:xfrm>
          <a:prstGeom prst="rect">
            <a:avLst/>
          </a:prstGeom>
          <a:noFill/>
        </p:spPr>
        <p:txBody>
          <a:bodyPr wrap="square">
            <a:spAutoFit/>
          </a:bodyPr>
          <a:lstStyle/>
          <a:p>
            <a:pPr>
              <a:defRPr sz="1000" b="1">
                <a:solidFill>
                  <a:srgbClr val="4F46E5"/>
                </a:solidFill>
              </a:defRPr>
            </a:pPr>
            <a:r>
              <a:t>SLIDE 14 | CONCLUSION</a:t>
            </a:r>
          </a:p>
        </p:txBody>
      </p:sp>
      <p:sp>
        <p:nvSpPr>
          <p:cNvPr id="5" name="TextBox 4"/>
          <p:cNvSpPr txBox="1"/>
          <p:nvPr/>
        </p:nvSpPr>
        <p:spPr>
          <a:xfrm>
            <a:off x="731520" y="640080"/>
            <a:ext cx="10698480" cy="731520"/>
          </a:xfrm>
          <a:prstGeom prst="rect">
            <a:avLst/>
          </a:prstGeom>
          <a:noFill/>
        </p:spPr>
        <p:txBody>
          <a:bodyPr wrap="square">
            <a:spAutoFit/>
          </a:bodyPr>
          <a:lstStyle/>
          <a:p>
            <a:pPr>
              <a:defRPr sz="2200" b="1">
                <a:solidFill>
                  <a:srgbClr val="1E293B"/>
                </a:solidFill>
              </a:defRPr>
            </a:pPr>
            <a:r>
              <a:t>CONCLUSION</a:t>
            </a:r>
          </a:p>
        </p:txBody>
      </p:sp>
      <p:sp>
        <p:nvSpPr>
          <p:cNvPr id="6" name="TextBox 5"/>
          <p:cNvSpPr txBox="1"/>
          <p:nvPr/>
        </p:nvSpPr>
        <p:spPr>
          <a:xfrm>
            <a:off x="731520" y="1280160"/>
            <a:ext cx="10698480" cy="365760"/>
          </a:xfrm>
          <a:prstGeom prst="rect">
            <a:avLst/>
          </a:prstGeom>
          <a:noFill/>
        </p:spPr>
        <p:txBody>
          <a:bodyPr wrap="square">
            <a:spAutoFit/>
          </a:bodyPr>
          <a:lstStyle/>
          <a:p>
            <a:pPr>
              <a:defRPr sz="1200" i="1">
                <a:solidFill>
                  <a:srgbClr val="64748B"/>
                </a:solidFill>
              </a:defRPr>
            </a:pPr>
            <a:r>
              <a:t>Summary of Contributions and Final Project Deliverables</a:t>
            </a:r>
          </a:p>
        </p:txBody>
      </p:sp>
      <p:sp>
        <p:nvSpPr>
          <p:cNvPr id="7" name="Rounded Rectangle 6"/>
          <p:cNvSpPr/>
          <p:nvPr/>
        </p:nvSpPr>
        <p:spPr>
          <a:xfrm>
            <a:off x="731520" y="1737360"/>
            <a:ext cx="10698480"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20240"/>
            <a:ext cx="10149840" cy="4206240"/>
          </a:xfrm>
          <a:prstGeom prst="rect">
            <a:avLst/>
          </a:prstGeom>
          <a:noFill/>
        </p:spPr>
        <p:txBody>
          <a:bodyPr wrap="square">
            <a:spAutoFit/>
          </a:bodyPr>
          <a:lstStyle/>
          <a:p>
            <a:pPr>
              <a:spcAft>
                <a:spcPts val="800"/>
              </a:spcAft>
              <a:defRPr sz="1300">
                <a:solidFill>
                  <a:srgbClr val="0F172A"/>
                </a:solidFill>
              </a:defRPr>
            </a:pPr>
            <a:r>
              <a:t>Successfully engineered an end-to-end, production-ready Speech Emotion Detection platform (EmoSense).</a:t>
            </a:r>
          </a:p>
          <a:p>
            <a:pPr>
              <a:spcAft>
                <a:spcPts val="800"/>
              </a:spcAft>
              <a:defRPr sz="1300">
                <a:solidFill>
                  <a:srgbClr val="0F172A"/>
                </a:solidFill>
              </a:defRPr>
            </a:pPr>
            <a:r>
              <a:t>Demonstrated 82.4% test accuracy using a high-efficiency 1D-CNN on fused 180-dim acoustic features.</a:t>
            </a:r>
          </a:p>
          <a:p>
            <a:pPr>
              <a:spcAft>
                <a:spcPts val="800"/>
              </a:spcAft>
              <a:defRPr sz="1300" b="0">
                <a:solidFill>
                  <a:srgbClr val="0F172A"/>
                </a:solidFill>
              </a:defRPr>
            </a:pPr>
            <a:r>
              <a:t>Resolved key industry bottlenecks: in-browser audio transcoding, volume distortion, and silence dead air.</a:t>
            </a:r>
          </a:p>
          <a:p>
            <a:pPr>
              <a:spcAft>
                <a:spcPts val="800"/>
              </a:spcAft>
              <a:defRPr sz="1300">
                <a:solidFill>
                  <a:srgbClr val="0F172A"/>
                </a:solidFill>
              </a:defRPr>
            </a:pPr>
            <a:r>
              <a:t>Delivered an intuitive, responsive React web interface with real-time 8-class probability visualizations.</a:t>
            </a:r>
          </a:p>
          <a:p>
            <a:pPr>
              <a:spcAft>
                <a:spcPts val="800"/>
              </a:spcAft>
              <a:defRPr sz="1300">
                <a:solidFill>
                  <a:srgbClr val="0F172A"/>
                </a:solidFill>
              </a:defRPr>
            </a:pPr>
            <a:r>
              <a:t>Deployed a production full-stack architecture on AWS EC2 and Netlify with zero operational cost.</a:t>
            </a:r>
          </a:p>
          <a:p>
            <a:pPr>
              <a:spcAft>
                <a:spcPts val="800"/>
              </a:spcAft>
              <a:defRPr sz="1300" b="0">
                <a:solidFill>
                  <a:srgbClr val="0F172A"/>
                </a:solidFill>
              </a:defRPr>
            </a:pPr>
            <a:r>
              <a:t>GitHub Repository: https://github.com/sarthakgore17/speech-emotion-detection</a:t>
            </a:r>
          </a:p>
        </p:txBody>
      </p:sp>
      <p:sp>
        <p:nvSpPr>
          <p:cNvPr id="9" name="TextBox 8"/>
          <p:cNvSpPr txBox="1"/>
          <p:nvPr/>
        </p:nvSpPr>
        <p:spPr>
          <a:xfrm>
            <a:off x="731520" y="6446520"/>
            <a:ext cx="10698480" cy="320040"/>
          </a:xfrm>
          <a:prstGeom prst="rect">
            <a:avLst/>
          </a:prstGeom>
          <a:noFill/>
        </p:spPr>
        <p:txBody>
          <a:bodyPr wrap="none">
            <a:spAutoFit/>
          </a:bodyPr>
          <a:lstStyle/>
          <a:p>
            <a:pPr>
              <a:defRPr sz="900">
                <a:solidFill>
                  <a:srgbClr val="64748B"/>
                </a:solidFill>
              </a:defRPr>
            </a:pPr>
            <a:r>
              <a:t>EmoSense: Speech Emotion Detection System | B.E. Final Year Major Project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7160"/>
          </a:xfrm>
          <a:prstGeom prst="rect">
            <a:avLst/>
          </a:prstGeom>
          <a:solidFill>
            <a:srgbClr val="4F46E5"/>
          </a:solidFill>
          <a:ln>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5486400" cy="365760"/>
          </a:xfrm>
          <a:prstGeom prst="rect">
            <a:avLst/>
          </a:prstGeom>
          <a:noFill/>
        </p:spPr>
        <p:txBody>
          <a:bodyPr wrap="square">
            <a:spAutoFit/>
          </a:bodyPr>
          <a:lstStyle/>
          <a:p>
            <a:pPr>
              <a:defRPr sz="1000" b="1">
                <a:solidFill>
                  <a:srgbClr val="4F46E5"/>
                </a:solidFill>
              </a:defRPr>
            </a:pPr>
            <a:r>
              <a:t>SLIDE 15 | VIVA / DEFENSE Q&amp;A</a:t>
            </a:r>
          </a:p>
        </p:txBody>
      </p:sp>
      <p:sp>
        <p:nvSpPr>
          <p:cNvPr id="5" name="TextBox 4"/>
          <p:cNvSpPr txBox="1"/>
          <p:nvPr/>
        </p:nvSpPr>
        <p:spPr>
          <a:xfrm>
            <a:off x="731520" y="640080"/>
            <a:ext cx="10698480" cy="731520"/>
          </a:xfrm>
          <a:prstGeom prst="rect">
            <a:avLst/>
          </a:prstGeom>
          <a:noFill/>
        </p:spPr>
        <p:txBody>
          <a:bodyPr wrap="square">
            <a:spAutoFit/>
          </a:bodyPr>
          <a:lstStyle/>
          <a:p>
            <a:pPr>
              <a:defRPr sz="2200" b="1">
                <a:solidFill>
                  <a:srgbClr val="1E293B"/>
                </a:solidFill>
              </a:defRPr>
            </a:pPr>
            <a:r>
              <a:t>EXAMINER VIVA DEFENSE GUIDE</a:t>
            </a:r>
          </a:p>
        </p:txBody>
      </p:sp>
      <p:sp>
        <p:nvSpPr>
          <p:cNvPr id="6" name="TextBox 5"/>
          <p:cNvSpPr txBox="1"/>
          <p:nvPr/>
        </p:nvSpPr>
        <p:spPr>
          <a:xfrm>
            <a:off x="731520" y="1280160"/>
            <a:ext cx="10698480" cy="365760"/>
          </a:xfrm>
          <a:prstGeom prst="rect">
            <a:avLst/>
          </a:prstGeom>
          <a:noFill/>
        </p:spPr>
        <p:txBody>
          <a:bodyPr wrap="square">
            <a:spAutoFit/>
          </a:bodyPr>
          <a:lstStyle/>
          <a:p>
            <a:pPr>
              <a:defRPr sz="1200" i="1">
                <a:solidFill>
                  <a:srgbClr val="64748B"/>
                </a:solidFill>
              </a:defRPr>
            </a:pPr>
            <a:r>
              <a:t>Frequently Asked Questions by External Examiners &amp; Model Answers</a:t>
            </a:r>
          </a:p>
        </p:txBody>
      </p:sp>
      <p:sp>
        <p:nvSpPr>
          <p:cNvPr id="7" name="Rounded Rectangle 6"/>
          <p:cNvSpPr/>
          <p:nvPr/>
        </p:nvSpPr>
        <p:spPr>
          <a:xfrm>
            <a:off x="731520" y="1737360"/>
            <a:ext cx="10698480"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20240"/>
            <a:ext cx="10149840" cy="4206240"/>
          </a:xfrm>
          <a:prstGeom prst="rect">
            <a:avLst/>
          </a:prstGeom>
          <a:noFill/>
        </p:spPr>
        <p:txBody>
          <a:bodyPr wrap="square">
            <a:spAutoFit/>
          </a:bodyPr>
          <a:lstStyle/>
          <a:p>
            <a:pPr>
              <a:spcAft>
                <a:spcPts val="800"/>
              </a:spcAft>
              <a:defRPr sz="1300" b="0">
                <a:solidFill>
                  <a:srgbClr val="0F172A"/>
                </a:solidFill>
              </a:defRPr>
            </a:pPr>
            <a:r>
              <a:t>Q1: Why 1D-CNN instead of 2D-CNN or LSTM?</a:t>
            </a:r>
          </a:p>
          <a:p>
            <a:pPr>
              <a:spcAft>
                <a:spcPts val="800"/>
              </a:spcAft>
              <a:defRPr sz="1200">
                <a:solidFill>
                  <a:srgbClr val="64748B"/>
                </a:solidFill>
              </a:defRPr>
            </a:pPr>
            <a:r>
              <a:t>  • A: 1D-CNN has 70% fewer parameters, avoids vanishing gradients, and runs sub-second inference on low-cost CPUs.</a:t>
            </a:r>
          </a:p>
          <a:p>
            <a:pPr>
              <a:spcAft>
                <a:spcPts val="800"/>
              </a:spcAft>
              <a:defRPr sz="1300" b="0">
                <a:solidFill>
                  <a:srgbClr val="0F172A"/>
                </a:solidFill>
              </a:defRPr>
            </a:pPr>
            <a:r>
              <a:t>Q2: Why combine MFCC, Chroma, and Mel Spectrograms?</a:t>
            </a:r>
          </a:p>
          <a:p>
            <a:pPr>
              <a:spcAft>
                <a:spcPts val="800"/>
              </a:spcAft>
              <a:defRPr sz="1200">
                <a:solidFill>
                  <a:srgbClr val="64748B"/>
                </a:solidFill>
              </a:defRPr>
            </a:pPr>
            <a:r>
              <a:t>  • A: MFCC captures vocal tract formants; Chroma captures musical pitch; Mel Spectrogram captures energy and volume dynamics.</a:t>
            </a:r>
          </a:p>
          <a:p>
            <a:pPr>
              <a:spcAft>
                <a:spcPts val="800"/>
              </a:spcAft>
              <a:defRPr sz="1300" b="0">
                <a:solidFill>
                  <a:srgbClr val="0F172A"/>
                </a:solidFill>
              </a:defRPr>
            </a:pPr>
            <a:r>
              <a:t>Q3: How did you fix the browser audio format error?</a:t>
            </a:r>
          </a:p>
          <a:p>
            <a:pPr>
              <a:spcAft>
                <a:spcPts val="800"/>
              </a:spcAft>
              <a:defRPr sz="1200">
                <a:solidFill>
                  <a:srgbClr val="64748B"/>
                </a:solidFill>
              </a:defRPr>
            </a:pPr>
            <a:r>
              <a:t>  • A: We built an in-browser Web Audio API transcoder that converts WebM/Opus into standard 16-bit PCM RIFF WAV.</a:t>
            </a:r>
          </a:p>
          <a:p>
            <a:pPr>
              <a:spcAft>
                <a:spcPts val="800"/>
              </a:spcAft>
              <a:defRPr sz="1300" b="0">
                <a:solidFill>
                  <a:srgbClr val="0F172A"/>
                </a:solidFill>
              </a:defRPr>
            </a:pPr>
            <a:r>
              <a:t>Q4: How did you prevent the model from defaulting to Calm or Neutral?</a:t>
            </a:r>
          </a:p>
          <a:p>
            <a:pPr>
              <a:spcAft>
                <a:spcPts val="800"/>
              </a:spcAft>
              <a:defRPr sz="1200">
                <a:solidFill>
                  <a:srgbClr val="64748B"/>
                </a:solidFill>
              </a:defRPr>
            </a:pPr>
            <a:r>
              <a:t>  • A: We applied dead-air silence trimming (top_db=35), removed artificial volume amplification, and calibrated softmax temperature (T=2.2).</a:t>
            </a:r>
          </a:p>
        </p:txBody>
      </p:sp>
      <p:sp>
        <p:nvSpPr>
          <p:cNvPr id="9" name="TextBox 8"/>
          <p:cNvSpPr txBox="1"/>
          <p:nvPr/>
        </p:nvSpPr>
        <p:spPr>
          <a:xfrm>
            <a:off x="731520" y="6446520"/>
            <a:ext cx="10698480" cy="320040"/>
          </a:xfrm>
          <a:prstGeom prst="rect">
            <a:avLst/>
          </a:prstGeom>
          <a:noFill/>
        </p:spPr>
        <p:txBody>
          <a:bodyPr wrap="none">
            <a:spAutoFit/>
          </a:bodyPr>
          <a:lstStyle/>
          <a:p>
            <a:pPr>
              <a:defRPr sz="900">
                <a:solidFill>
                  <a:srgbClr val="64748B"/>
                </a:solidFill>
              </a:defRPr>
            </a:pPr>
            <a:r>
              <a:t>EmoSense: Speech Emotion Detection System | B.E. Final Year Major Project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